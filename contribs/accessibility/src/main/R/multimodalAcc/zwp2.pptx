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0"/>
  </p:notesMasterIdLst>
  <p:sldIdLst>
    <p:sldId id="289" r:id="rId2"/>
    <p:sldId id="259" r:id="rId3"/>
    <p:sldId id="261" r:id="rId4"/>
    <p:sldId id="291" r:id="rId5"/>
    <p:sldId id="262" r:id="rId6"/>
    <p:sldId id="263" r:id="rId7"/>
    <p:sldId id="264" r:id="rId8"/>
    <p:sldId id="283" r:id="rId9"/>
    <p:sldId id="285" r:id="rId10"/>
    <p:sldId id="266" r:id="rId11"/>
    <p:sldId id="290" r:id="rId12"/>
    <p:sldId id="281" r:id="rId13"/>
    <p:sldId id="280" r:id="rId14"/>
    <p:sldId id="284" r:id="rId15"/>
    <p:sldId id="286" r:id="rId16"/>
    <p:sldId id="287" r:id="rId17"/>
    <p:sldId id="288" r:id="rId18"/>
    <p:sldId id="270" r:id="rId19"/>
    <p:sldId id="271" r:id="rId20"/>
    <p:sldId id="272" r:id="rId21"/>
    <p:sldId id="274" r:id="rId22"/>
    <p:sldId id="256" r:id="rId23"/>
    <p:sldId id="257" r:id="rId24"/>
    <p:sldId id="258" r:id="rId25"/>
    <p:sldId id="276" r:id="rId26"/>
    <p:sldId id="277" r:id="rId27"/>
    <p:sldId id="275" r:id="rId28"/>
    <p:sldId id="278"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CEAF7"/>
    <a:srgbClr val="FBE3D6"/>
    <a:srgbClr val="F2CFEE"/>
    <a:srgbClr val="DBF1D3"/>
    <a:srgbClr val="FFFFCC"/>
    <a:srgbClr val="CCFF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61730" autoAdjust="0"/>
  </p:normalViewPr>
  <p:slideViewPr>
    <p:cSldViewPr snapToGrid="0">
      <p:cViewPr varScale="1">
        <p:scale>
          <a:sx n="60" d="100"/>
          <a:sy n="60" d="100"/>
        </p:scale>
        <p:origin x="96" y="2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3CB1010-2662-4DE6-8C49-C2CBA5076C29}" type="datetimeFigureOut">
              <a:rPr lang="en-GB" smtClean="0"/>
              <a:t>08/05/2026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C99DAEF-8371-46E4-BEED-4A2B7206682F}" type="slidenum">
              <a:rPr lang="en-GB" smtClean="0"/>
              <a:t>‹#›</a:t>
            </a:fld>
            <a:endParaRPr lang="en-GB"/>
          </a:p>
        </p:txBody>
      </p:sp>
    </p:spTree>
    <p:extLst>
      <p:ext uri="{BB962C8B-B14F-4D97-AF65-F5344CB8AC3E}">
        <p14:creationId xmlns:p14="http://schemas.microsoft.com/office/powerpoint/2010/main" val="14119793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C99DAEF-8371-46E4-BEED-4A2B7206682F}" type="slidenum">
              <a:rPr lang="en-GB" smtClean="0"/>
              <a:t>4</a:t>
            </a:fld>
            <a:endParaRPr lang="en-GB"/>
          </a:p>
        </p:txBody>
      </p:sp>
    </p:spTree>
    <p:extLst>
      <p:ext uri="{BB962C8B-B14F-4D97-AF65-F5344CB8AC3E}">
        <p14:creationId xmlns:p14="http://schemas.microsoft.com/office/powerpoint/2010/main" val="36379420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It’s the </a:t>
            </a:r>
            <a:r>
              <a:rPr lang="en-US" dirty="0" err="1"/>
              <a:t>logsum</a:t>
            </a:r>
            <a:r>
              <a:rPr lang="en-US" dirty="0"/>
              <a:t> of the utility of the grid to all opportunities</a:t>
            </a:r>
            <a:endParaRPr lang="en-GB" dirty="0"/>
          </a:p>
        </p:txBody>
      </p:sp>
      <p:sp>
        <p:nvSpPr>
          <p:cNvPr id="4" name="Slide Number Placeholder 3"/>
          <p:cNvSpPr>
            <a:spLocks noGrp="1"/>
          </p:cNvSpPr>
          <p:nvPr>
            <p:ph type="sldNum" sz="quarter" idx="5"/>
          </p:nvPr>
        </p:nvSpPr>
        <p:spPr/>
        <p:txBody>
          <a:bodyPr/>
          <a:lstStyle/>
          <a:p>
            <a:fld id="{2C99DAEF-8371-46E4-BEED-4A2B7206682F}" type="slidenum">
              <a:rPr lang="en-GB" smtClean="0"/>
              <a:t>5</a:t>
            </a:fld>
            <a:endParaRPr lang="en-GB"/>
          </a:p>
        </p:txBody>
      </p:sp>
    </p:spTree>
    <p:extLst>
      <p:ext uri="{BB962C8B-B14F-4D97-AF65-F5344CB8AC3E}">
        <p14:creationId xmlns:p14="http://schemas.microsoft.com/office/powerpoint/2010/main" val="24377716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does it mean then if there are no new infrastructure improvements for </a:t>
            </a:r>
            <a:r>
              <a:rPr lang="en-US" dirty="0" err="1"/>
              <a:t>walk+pt</a:t>
            </a:r>
            <a:r>
              <a:rPr lang="en-US" dirty="0"/>
              <a:t> in the policy scenario?</a:t>
            </a:r>
            <a:br>
              <a:rPr lang="en-US" dirty="0"/>
            </a:br>
            <a:br>
              <a:rPr lang="en-US" dirty="0"/>
            </a:br>
            <a:r>
              <a:rPr lang="en-US" dirty="0"/>
              <a:t>Explicitly show normal congestion patterns (base), here is car-free congestion patterns (policy)</a:t>
            </a:r>
            <a:endParaRPr lang="en-GB" dirty="0"/>
          </a:p>
        </p:txBody>
      </p:sp>
      <p:sp>
        <p:nvSpPr>
          <p:cNvPr id="4" name="Slide Number Placeholder 3"/>
          <p:cNvSpPr>
            <a:spLocks noGrp="1"/>
          </p:cNvSpPr>
          <p:nvPr>
            <p:ph type="sldNum" sz="quarter" idx="5"/>
          </p:nvPr>
        </p:nvSpPr>
        <p:spPr/>
        <p:txBody>
          <a:bodyPr/>
          <a:lstStyle/>
          <a:p>
            <a:fld id="{2C99DAEF-8371-46E4-BEED-4A2B7206682F}" type="slidenum">
              <a:rPr lang="en-GB" smtClean="0"/>
              <a:t>6</a:t>
            </a:fld>
            <a:endParaRPr lang="en-GB"/>
          </a:p>
        </p:txBody>
      </p:sp>
    </p:spTree>
    <p:extLst>
      <p:ext uri="{BB962C8B-B14F-4D97-AF65-F5344CB8AC3E}">
        <p14:creationId xmlns:p14="http://schemas.microsoft.com/office/powerpoint/2010/main" val="18455248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Relation of berlin ring and how the facilities are scattered (slightly uneven) + facilities outside the ring (</a:t>
            </a:r>
            <a:r>
              <a:rPr lang="en-US" dirty="0" err="1"/>
              <a:t>ludwigsfelde</a:t>
            </a:r>
            <a:r>
              <a:rPr lang="en-US" dirty="0"/>
              <a:t>)</a:t>
            </a:r>
            <a:br>
              <a:rPr lang="en-US" dirty="0"/>
            </a:br>
            <a:br>
              <a:rPr lang="en-US" dirty="0"/>
            </a:br>
            <a:r>
              <a:rPr lang="en-US" dirty="0"/>
              <a:t>understand how trips are then executed (outside ring to facility outside the zone instead of inside)</a:t>
            </a:r>
            <a:br>
              <a:rPr lang="en-US" dirty="0"/>
            </a:br>
            <a:br>
              <a:rPr lang="en-US" dirty="0"/>
            </a:br>
            <a:r>
              <a:rPr lang="en-US" dirty="0"/>
              <a:t>filter for poor agents and do detailed analysis deep dive into individual values/steps</a:t>
            </a:r>
            <a:br>
              <a:rPr lang="en-US" dirty="0"/>
            </a:br>
            <a:br>
              <a:rPr lang="en-US" dirty="0"/>
            </a:br>
            <a:r>
              <a:rPr lang="en-US" dirty="0"/>
              <a:t>car acc loss plot (once for poor/ rich)</a:t>
            </a:r>
            <a:br>
              <a:rPr lang="en-US" dirty="0"/>
            </a:br>
            <a:br>
              <a:rPr lang="en-US" dirty="0"/>
            </a:br>
            <a:r>
              <a:rPr lang="en-US" dirty="0"/>
              <a:t>find more details in telling story of agents</a:t>
            </a:r>
            <a:br>
              <a:rPr lang="en-US" dirty="0"/>
            </a:br>
            <a:r>
              <a:rPr lang="en-US" dirty="0"/>
              <a:t>more detailed case study on individual agents</a:t>
            </a:r>
            <a:br>
              <a:rPr lang="en-US" dirty="0"/>
            </a:br>
            <a:br>
              <a:rPr lang="en-US" dirty="0"/>
            </a:br>
            <a:r>
              <a:rPr lang="en-US" dirty="0"/>
              <a:t>run 6.3&gt;  congestion patterns</a:t>
            </a:r>
            <a:br>
              <a:rPr lang="en-US" dirty="0"/>
            </a:br>
            <a:br>
              <a:rPr lang="en-US" dirty="0"/>
            </a:br>
            <a:r>
              <a:rPr lang="en-US" dirty="0"/>
              <a:t>accessibility as a potential anyways</a:t>
            </a:r>
            <a:endParaRPr lang="en-GB" dirty="0"/>
          </a:p>
        </p:txBody>
      </p:sp>
      <p:sp>
        <p:nvSpPr>
          <p:cNvPr id="4" name="Slide Number Placeholder 3"/>
          <p:cNvSpPr>
            <a:spLocks noGrp="1"/>
          </p:cNvSpPr>
          <p:nvPr>
            <p:ph type="sldNum" sz="quarter" idx="5"/>
          </p:nvPr>
        </p:nvSpPr>
        <p:spPr/>
        <p:txBody>
          <a:bodyPr/>
          <a:lstStyle/>
          <a:p>
            <a:fld id="{2C99DAEF-8371-46E4-BEED-4A2B7206682F}" type="slidenum">
              <a:rPr lang="en-GB" smtClean="0"/>
              <a:t>7</a:t>
            </a:fld>
            <a:endParaRPr lang="en-GB"/>
          </a:p>
        </p:txBody>
      </p:sp>
    </p:spTree>
    <p:extLst>
      <p:ext uri="{BB962C8B-B14F-4D97-AF65-F5344CB8AC3E}">
        <p14:creationId xmlns:p14="http://schemas.microsoft.com/office/powerpoint/2010/main" val="19209316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Logsum</a:t>
            </a:r>
            <a:r>
              <a:rPr lang="en-US" dirty="0"/>
              <a:t> = represents the total expected utility of all available options in a choice model. To calculate the overall attractiveness of transportation options. </a:t>
            </a:r>
          </a:p>
          <a:p>
            <a:r>
              <a:rPr lang="en-US" dirty="0" err="1"/>
              <a:t>pbAcc</a:t>
            </a:r>
            <a:r>
              <a:rPr lang="en-US" dirty="0"/>
              <a:t> is the </a:t>
            </a:r>
            <a:r>
              <a:rPr lang="en-US" dirty="0" err="1"/>
              <a:t>logsum</a:t>
            </a:r>
            <a:r>
              <a:rPr lang="en-US" dirty="0"/>
              <a:t> of the aggregated utility to all opportunities/facilities</a:t>
            </a:r>
            <a:endParaRPr lang="en-GB" dirty="0"/>
          </a:p>
        </p:txBody>
      </p:sp>
      <p:sp>
        <p:nvSpPr>
          <p:cNvPr id="4" name="Slide Number Placeholder 3"/>
          <p:cNvSpPr>
            <a:spLocks noGrp="1"/>
          </p:cNvSpPr>
          <p:nvPr>
            <p:ph type="sldNum" sz="quarter" idx="5"/>
          </p:nvPr>
        </p:nvSpPr>
        <p:spPr/>
        <p:txBody>
          <a:bodyPr/>
          <a:lstStyle/>
          <a:p>
            <a:fld id="{2C99DAEF-8371-46E4-BEED-4A2B7206682F}" type="slidenum">
              <a:rPr lang="en-GB" smtClean="0"/>
              <a:t>8</a:t>
            </a:fld>
            <a:endParaRPr lang="en-GB"/>
          </a:p>
        </p:txBody>
      </p:sp>
    </p:spTree>
    <p:extLst>
      <p:ext uri="{BB962C8B-B14F-4D97-AF65-F5344CB8AC3E}">
        <p14:creationId xmlns:p14="http://schemas.microsoft.com/office/powerpoint/2010/main" val="5133291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Which type of people are driving these results</a:t>
            </a:r>
            <a:endParaRPr lang="en-GB" dirty="0"/>
          </a:p>
        </p:txBody>
      </p:sp>
      <p:sp>
        <p:nvSpPr>
          <p:cNvPr id="4" name="Slide Number Placeholder 3"/>
          <p:cNvSpPr>
            <a:spLocks noGrp="1"/>
          </p:cNvSpPr>
          <p:nvPr>
            <p:ph type="sldNum" sz="quarter" idx="5"/>
          </p:nvPr>
        </p:nvSpPr>
        <p:spPr/>
        <p:txBody>
          <a:bodyPr/>
          <a:lstStyle/>
          <a:p>
            <a:fld id="{2C99DAEF-8371-46E4-BEED-4A2B7206682F}" type="slidenum">
              <a:rPr lang="en-GB" smtClean="0"/>
              <a:t>9</a:t>
            </a:fld>
            <a:endParaRPr lang="en-GB"/>
          </a:p>
        </p:txBody>
      </p:sp>
    </p:spTree>
    <p:extLst>
      <p:ext uri="{BB962C8B-B14F-4D97-AF65-F5344CB8AC3E}">
        <p14:creationId xmlns:p14="http://schemas.microsoft.com/office/powerpoint/2010/main" val="34582719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Value that represents the total expected utility of all available modes to an agent</a:t>
            </a:r>
            <a:endParaRPr lang="en-GB" dirty="0"/>
          </a:p>
        </p:txBody>
      </p:sp>
      <p:sp>
        <p:nvSpPr>
          <p:cNvPr id="4" name="Slide Number Placeholder 3"/>
          <p:cNvSpPr>
            <a:spLocks noGrp="1"/>
          </p:cNvSpPr>
          <p:nvPr>
            <p:ph type="sldNum" sz="quarter" idx="5"/>
          </p:nvPr>
        </p:nvSpPr>
        <p:spPr/>
        <p:txBody>
          <a:bodyPr/>
          <a:lstStyle/>
          <a:p>
            <a:fld id="{2C99DAEF-8371-46E4-BEED-4A2B7206682F}" type="slidenum">
              <a:rPr lang="en-GB" smtClean="0"/>
              <a:t>10</a:t>
            </a:fld>
            <a:endParaRPr lang="en-GB"/>
          </a:p>
        </p:txBody>
      </p:sp>
    </p:spTree>
    <p:extLst>
      <p:ext uri="{BB962C8B-B14F-4D97-AF65-F5344CB8AC3E}">
        <p14:creationId xmlns:p14="http://schemas.microsoft.com/office/powerpoint/2010/main" val="37735408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cases </a:t>
            </a:r>
            <a:r>
              <a:rPr lang="en-US" dirty="0" err="1"/>
              <a:t>theyre</a:t>
            </a:r>
            <a:r>
              <a:rPr lang="en-US" dirty="0"/>
              <a:t> similar, can add simple math example (to know)</a:t>
            </a:r>
            <a:endParaRPr lang="en-GB" dirty="0"/>
          </a:p>
        </p:txBody>
      </p:sp>
      <p:sp>
        <p:nvSpPr>
          <p:cNvPr id="4" name="Slide Number Placeholder 3"/>
          <p:cNvSpPr>
            <a:spLocks noGrp="1"/>
          </p:cNvSpPr>
          <p:nvPr>
            <p:ph type="sldNum" sz="quarter" idx="5"/>
          </p:nvPr>
        </p:nvSpPr>
        <p:spPr/>
        <p:txBody>
          <a:bodyPr/>
          <a:lstStyle/>
          <a:p>
            <a:fld id="{15EDB061-9263-4562-BCBF-5C735094C67D}" type="slidenum">
              <a:rPr lang="en-GB" smtClean="0"/>
              <a:t>11</a:t>
            </a:fld>
            <a:endParaRPr lang="en-GB"/>
          </a:p>
        </p:txBody>
      </p:sp>
    </p:spTree>
    <p:extLst>
      <p:ext uri="{BB962C8B-B14F-4D97-AF65-F5344CB8AC3E}">
        <p14:creationId xmlns:p14="http://schemas.microsoft.com/office/powerpoint/2010/main" val="5607687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results of the multimodal accessibility computation.</a:t>
            </a:r>
            <a:br>
              <a:rPr lang="en-US" dirty="0"/>
            </a:br>
            <a:r>
              <a:rPr lang="en-US" dirty="0"/>
              <a:t>Distribution of the multimodal accessibility scores in the base scenario and also the policy scenario. Differences are very minor and in this view aren’t very visible.</a:t>
            </a:r>
            <a:endParaRPr lang="en-GB" dirty="0"/>
          </a:p>
        </p:txBody>
      </p:sp>
      <p:sp>
        <p:nvSpPr>
          <p:cNvPr id="4" name="Slide Number Placeholder 3"/>
          <p:cNvSpPr>
            <a:spLocks noGrp="1"/>
          </p:cNvSpPr>
          <p:nvPr>
            <p:ph type="sldNum" sz="quarter" idx="5"/>
          </p:nvPr>
        </p:nvSpPr>
        <p:spPr/>
        <p:txBody>
          <a:bodyPr/>
          <a:lstStyle/>
          <a:p>
            <a:fld id="{2C99DAEF-8371-46E4-BEED-4A2B7206682F}" type="slidenum">
              <a:rPr lang="en-GB" smtClean="0"/>
              <a:t>12</a:t>
            </a:fld>
            <a:endParaRPr lang="en-GB"/>
          </a:p>
        </p:txBody>
      </p:sp>
    </p:spTree>
    <p:extLst>
      <p:ext uri="{BB962C8B-B14F-4D97-AF65-F5344CB8AC3E}">
        <p14:creationId xmlns:p14="http://schemas.microsoft.com/office/powerpoint/2010/main" val="25238754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1C3D8F-F06F-C30D-42F3-D109FEA5EF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EDCD4C-A7D8-6799-DBC2-FBC8477D39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1BE7E3-7E45-487A-BD45-06E804233601}"/>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8EC927BC-CCFC-3E4E-97F9-00EA626C2EEA}"/>
              </a:ext>
            </a:extLst>
          </p:cNvPr>
          <p:cNvSpPr>
            <a:spLocks noGrp="1"/>
          </p:cNvSpPr>
          <p:nvPr>
            <p:ph type="sldNum" sz="quarter" idx="5"/>
          </p:nvPr>
        </p:nvSpPr>
        <p:spPr/>
        <p:txBody>
          <a:bodyPr/>
          <a:lstStyle/>
          <a:p>
            <a:fld id="{2C99DAEF-8371-46E4-BEED-4A2B7206682F}" type="slidenum">
              <a:rPr lang="en-GB" smtClean="0"/>
              <a:t>13</a:t>
            </a:fld>
            <a:endParaRPr lang="en-GB"/>
          </a:p>
        </p:txBody>
      </p:sp>
    </p:spTree>
    <p:extLst>
      <p:ext uri="{BB962C8B-B14F-4D97-AF65-F5344CB8AC3E}">
        <p14:creationId xmlns:p14="http://schemas.microsoft.com/office/powerpoint/2010/main" val="40559075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So sure, higher income groups suffer on average higher losses, however their general accessibility loss is still less (linearly) compared to lower income group counterparts which suffer more in terms of absolute value. </a:t>
            </a:r>
            <a:br>
              <a:rPr lang="en-US" dirty="0"/>
            </a:br>
            <a:r>
              <a:rPr lang="en-US" dirty="0"/>
              <a:t>instead of thinking who wins from this policy, it should be looked instead at who bears the cost of this policy, and in this case the higher income groups (which is what we expect in terms of equity)</a:t>
            </a:r>
          </a:p>
          <a:p>
            <a:endParaRPr lang="en-GB" dirty="0"/>
          </a:p>
        </p:txBody>
      </p:sp>
      <p:sp>
        <p:nvSpPr>
          <p:cNvPr id="4" name="Slide Number Placeholder 3"/>
          <p:cNvSpPr>
            <a:spLocks noGrp="1"/>
          </p:cNvSpPr>
          <p:nvPr>
            <p:ph type="sldNum" sz="quarter" idx="5"/>
          </p:nvPr>
        </p:nvSpPr>
        <p:spPr/>
        <p:txBody>
          <a:bodyPr/>
          <a:lstStyle/>
          <a:p>
            <a:fld id="{2C99DAEF-8371-46E4-BEED-4A2B7206682F}" type="slidenum">
              <a:rPr lang="en-GB" smtClean="0"/>
              <a:t>14</a:t>
            </a:fld>
            <a:endParaRPr lang="en-GB"/>
          </a:p>
        </p:txBody>
      </p:sp>
    </p:spTree>
    <p:extLst>
      <p:ext uri="{BB962C8B-B14F-4D97-AF65-F5344CB8AC3E}">
        <p14:creationId xmlns:p14="http://schemas.microsoft.com/office/powerpoint/2010/main" val="38683670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C99DAEF-8371-46E4-BEED-4A2B7206682F}" type="slidenum">
              <a:rPr lang="en-GB" smtClean="0"/>
              <a:t>15</a:t>
            </a:fld>
            <a:endParaRPr lang="en-GB"/>
          </a:p>
        </p:txBody>
      </p:sp>
    </p:spTree>
    <p:extLst>
      <p:ext uri="{BB962C8B-B14F-4D97-AF65-F5344CB8AC3E}">
        <p14:creationId xmlns:p14="http://schemas.microsoft.com/office/powerpoint/2010/main" val="37176345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603BE0-155C-E2A0-C12D-72357E5F287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36C60C03-05E1-7085-478E-0C73AAA4FFE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4F5333CD-4A7B-0404-30B4-D4BA68B880CD}"/>
              </a:ext>
            </a:extLst>
          </p:cNvPr>
          <p:cNvSpPr>
            <a:spLocks noGrp="1"/>
          </p:cNvSpPr>
          <p:nvPr>
            <p:ph type="dt" sz="half" idx="10"/>
          </p:nvPr>
        </p:nvSpPr>
        <p:spPr/>
        <p:txBody>
          <a:bodyPr/>
          <a:lstStyle/>
          <a:p>
            <a:fld id="{EFED9B9D-D8FC-48B4-B4E5-93F9A51FFA53}" type="datetimeFigureOut">
              <a:rPr lang="en-GB" smtClean="0"/>
              <a:t>08/05/2026</a:t>
            </a:fld>
            <a:endParaRPr lang="en-GB"/>
          </a:p>
        </p:txBody>
      </p:sp>
      <p:sp>
        <p:nvSpPr>
          <p:cNvPr id="5" name="Footer Placeholder 4">
            <a:extLst>
              <a:ext uri="{FF2B5EF4-FFF2-40B4-BE49-F238E27FC236}">
                <a16:creationId xmlns:a16="http://schemas.microsoft.com/office/drawing/2014/main" id="{95D9AC30-19FE-9984-757C-DF3560CF992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76CECA3-B1ED-B7A2-E4B1-D38FD29B215D}"/>
              </a:ext>
            </a:extLst>
          </p:cNvPr>
          <p:cNvSpPr>
            <a:spLocks noGrp="1"/>
          </p:cNvSpPr>
          <p:nvPr>
            <p:ph type="sldNum" sz="quarter" idx="12"/>
          </p:nvPr>
        </p:nvSpPr>
        <p:spPr/>
        <p:txBody>
          <a:bodyPr/>
          <a:lstStyle/>
          <a:p>
            <a:fld id="{1ED867A2-E625-4F0B-AFE7-61C26DED8F35}" type="slidenum">
              <a:rPr lang="en-GB" smtClean="0"/>
              <a:t>‹#›</a:t>
            </a:fld>
            <a:endParaRPr lang="en-GB"/>
          </a:p>
        </p:txBody>
      </p:sp>
    </p:spTree>
    <p:extLst>
      <p:ext uri="{BB962C8B-B14F-4D97-AF65-F5344CB8AC3E}">
        <p14:creationId xmlns:p14="http://schemas.microsoft.com/office/powerpoint/2010/main" val="32813295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D73A2-3099-E6DE-7EB2-E0637789E9FD}"/>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CCD4D29-C059-FCDE-F5C2-940A37164B9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60FD066-6762-5292-DB96-20218FABF220}"/>
              </a:ext>
            </a:extLst>
          </p:cNvPr>
          <p:cNvSpPr>
            <a:spLocks noGrp="1"/>
          </p:cNvSpPr>
          <p:nvPr>
            <p:ph type="dt" sz="half" idx="10"/>
          </p:nvPr>
        </p:nvSpPr>
        <p:spPr/>
        <p:txBody>
          <a:bodyPr/>
          <a:lstStyle/>
          <a:p>
            <a:fld id="{EFED9B9D-D8FC-48B4-B4E5-93F9A51FFA53}" type="datetimeFigureOut">
              <a:rPr lang="en-GB" smtClean="0"/>
              <a:t>08/05/2026</a:t>
            </a:fld>
            <a:endParaRPr lang="en-GB"/>
          </a:p>
        </p:txBody>
      </p:sp>
      <p:sp>
        <p:nvSpPr>
          <p:cNvPr id="5" name="Footer Placeholder 4">
            <a:extLst>
              <a:ext uri="{FF2B5EF4-FFF2-40B4-BE49-F238E27FC236}">
                <a16:creationId xmlns:a16="http://schemas.microsoft.com/office/drawing/2014/main" id="{ACA8310A-6446-CD14-8F2B-DD6EAE8444B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6E27628-BF91-6A12-8EB1-F8FE6170281C}"/>
              </a:ext>
            </a:extLst>
          </p:cNvPr>
          <p:cNvSpPr>
            <a:spLocks noGrp="1"/>
          </p:cNvSpPr>
          <p:nvPr>
            <p:ph type="sldNum" sz="quarter" idx="12"/>
          </p:nvPr>
        </p:nvSpPr>
        <p:spPr/>
        <p:txBody>
          <a:bodyPr/>
          <a:lstStyle/>
          <a:p>
            <a:fld id="{1ED867A2-E625-4F0B-AFE7-61C26DED8F35}" type="slidenum">
              <a:rPr lang="en-GB" smtClean="0"/>
              <a:t>‹#›</a:t>
            </a:fld>
            <a:endParaRPr lang="en-GB"/>
          </a:p>
        </p:txBody>
      </p:sp>
    </p:spTree>
    <p:extLst>
      <p:ext uri="{BB962C8B-B14F-4D97-AF65-F5344CB8AC3E}">
        <p14:creationId xmlns:p14="http://schemas.microsoft.com/office/powerpoint/2010/main" val="1962916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8F0EDD-FDDA-A12B-312D-BF529777E5F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E4DA1251-7EDA-628B-FD99-003AAA11B06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A55EC80-1B50-4FF7-8E8E-CAE7C1368069}"/>
              </a:ext>
            </a:extLst>
          </p:cNvPr>
          <p:cNvSpPr>
            <a:spLocks noGrp="1"/>
          </p:cNvSpPr>
          <p:nvPr>
            <p:ph type="dt" sz="half" idx="10"/>
          </p:nvPr>
        </p:nvSpPr>
        <p:spPr/>
        <p:txBody>
          <a:bodyPr/>
          <a:lstStyle/>
          <a:p>
            <a:fld id="{EFED9B9D-D8FC-48B4-B4E5-93F9A51FFA53}" type="datetimeFigureOut">
              <a:rPr lang="en-GB" smtClean="0"/>
              <a:t>08/05/2026</a:t>
            </a:fld>
            <a:endParaRPr lang="en-GB"/>
          </a:p>
        </p:txBody>
      </p:sp>
      <p:sp>
        <p:nvSpPr>
          <p:cNvPr id="5" name="Footer Placeholder 4">
            <a:extLst>
              <a:ext uri="{FF2B5EF4-FFF2-40B4-BE49-F238E27FC236}">
                <a16:creationId xmlns:a16="http://schemas.microsoft.com/office/drawing/2014/main" id="{77B6EAB7-9638-B048-9199-A5CDBB4075E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BD4B6AE-3747-C96E-EE41-E5E96DFE4B37}"/>
              </a:ext>
            </a:extLst>
          </p:cNvPr>
          <p:cNvSpPr>
            <a:spLocks noGrp="1"/>
          </p:cNvSpPr>
          <p:nvPr>
            <p:ph type="sldNum" sz="quarter" idx="12"/>
          </p:nvPr>
        </p:nvSpPr>
        <p:spPr/>
        <p:txBody>
          <a:bodyPr/>
          <a:lstStyle/>
          <a:p>
            <a:fld id="{1ED867A2-E625-4F0B-AFE7-61C26DED8F35}" type="slidenum">
              <a:rPr lang="en-GB" smtClean="0"/>
              <a:t>‹#›</a:t>
            </a:fld>
            <a:endParaRPr lang="en-GB"/>
          </a:p>
        </p:txBody>
      </p:sp>
    </p:spTree>
    <p:extLst>
      <p:ext uri="{BB962C8B-B14F-4D97-AF65-F5344CB8AC3E}">
        <p14:creationId xmlns:p14="http://schemas.microsoft.com/office/powerpoint/2010/main" val="12571020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11465C-2677-3190-85B2-D1C741F7366A}"/>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EC3C6A4-EBE1-CB55-CF74-E1512555163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2C972BEF-F3EF-02A9-3190-DA618274887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9F837D94-2C3B-0EA2-702F-24F15734D38C}"/>
              </a:ext>
            </a:extLst>
          </p:cNvPr>
          <p:cNvSpPr>
            <a:spLocks noGrp="1"/>
          </p:cNvSpPr>
          <p:nvPr>
            <p:ph type="dt" sz="half" idx="10"/>
          </p:nvPr>
        </p:nvSpPr>
        <p:spPr/>
        <p:txBody>
          <a:bodyPr/>
          <a:lstStyle/>
          <a:p>
            <a:fld id="{EFED9B9D-D8FC-48B4-B4E5-93F9A51FFA53}" type="datetimeFigureOut">
              <a:rPr lang="en-GB" smtClean="0"/>
              <a:t>08/05/2026</a:t>
            </a:fld>
            <a:endParaRPr lang="en-GB"/>
          </a:p>
        </p:txBody>
      </p:sp>
      <p:sp>
        <p:nvSpPr>
          <p:cNvPr id="6" name="Footer Placeholder 5">
            <a:extLst>
              <a:ext uri="{FF2B5EF4-FFF2-40B4-BE49-F238E27FC236}">
                <a16:creationId xmlns:a16="http://schemas.microsoft.com/office/drawing/2014/main" id="{E4D2DA7C-1449-B6F4-C517-8AC1D8CDCBA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38A58CC-4433-BF47-4D5E-102E7253C65E}"/>
              </a:ext>
            </a:extLst>
          </p:cNvPr>
          <p:cNvSpPr>
            <a:spLocks noGrp="1"/>
          </p:cNvSpPr>
          <p:nvPr>
            <p:ph type="sldNum" sz="quarter" idx="12"/>
          </p:nvPr>
        </p:nvSpPr>
        <p:spPr/>
        <p:txBody>
          <a:bodyPr/>
          <a:lstStyle/>
          <a:p>
            <a:fld id="{1ED867A2-E625-4F0B-AFE7-61C26DED8F35}" type="slidenum">
              <a:rPr lang="en-GB" smtClean="0"/>
              <a:t>‹#›</a:t>
            </a:fld>
            <a:endParaRPr lang="en-GB"/>
          </a:p>
        </p:txBody>
      </p:sp>
    </p:spTree>
    <p:extLst>
      <p:ext uri="{BB962C8B-B14F-4D97-AF65-F5344CB8AC3E}">
        <p14:creationId xmlns:p14="http://schemas.microsoft.com/office/powerpoint/2010/main" val="26812014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33AEEF-2D6F-12A6-2693-716DC84ABBBF}"/>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7CD09B94-8D99-450A-A3D0-501A5B92237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1C67B1B-BA44-4AE0-2BA3-C6408B1E569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BE5A03AC-9895-DAC3-89A4-335DD904960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659A43E-2C2A-EDB9-FD3A-42B66027ACE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860E40F5-A726-A614-DD82-4224729DF815}"/>
              </a:ext>
            </a:extLst>
          </p:cNvPr>
          <p:cNvSpPr>
            <a:spLocks noGrp="1"/>
          </p:cNvSpPr>
          <p:nvPr>
            <p:ph type="dt" sz="half" idx="10"/>
          </p:nvPr>
        </p:nvSpPr>
        <p:spPr/>
        <p:txBody>
          <a:bodyPr/>
          <a:lstStyle/>
          <a:p>
            <a:fld id="{EFED9B9D-D8FC-48B4-B4E5-93F9A51FFA53}" type="datetimeFigureOut">
              <a:rPr lang="en-GB" smtClean="0"/>
              <a:t>08/05/2026</a:t>
            </a:fld>
            <a:endParaRPr lang="en-GB"/>
          </a:p>
        </p:txBody>
      </p:sp>
      <p:sp>
        <p:nvSpPr>
          <p:cNvPr id="8" name="Footer Placeholder 7">
            <a:extLst>
              <a:ext uri="{FF2B5EF4-FFF2-40B4-BE49-F238E27FC236}">
                <a16:creationId xmlns:a16="http://schemas.microsoft.com/office/drawing/2014/main" id="{F1E7EC8B-D41C-133C-EFEF-C39839A68474}"/>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33070332-3B0B-E661-01B2-500A540EDD47}"/>
              </a:ext>
            </a:extLst>
          </p:cNvPr>
          <p:cNvSpPr>
            <a:spLocks noGrp="1"/>
          </p:cNvSpPr>
          <p:nvPr>
            <p:ph type="sldNum" sz="quarter" idx="12"/>
          </p:nvPr>
        </p:nvSpPr>
        <p:spPr/>
        <p:txBody>
          <a:bodyPr/>
          <a:lstStyle/>
          <a:p>
            <a:fld id="{1ED867A2-E625-4F0B-AFE7-61C26DED8F35}" type="slidenum">
              <a:rPr lang="en-GB" smtClean="0"/>
              <a:t>‹#›</a:t>
            </a:fld>
            <a:endParaRPr lang="en-GB"/>
          </a:p>
        </p:txBody>
      </p:sp>
    </p:spTree>
    <p:extLst>
      <p:ext uri="{BB962C8B-B14F-4D97-AF65-F5344CB8AC3E}">
        <p14:creationId xmlns:p14="http://schemas.microsoft.com/office/powerpoint/2010/main" val="13025378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19C3A-6E88-23C8-FC46-7CE26787E8E8}"/>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14F342ED-CFCD-6D79-0343-C0D19EE9D642}"/>
              </a:ext>
            </a:extLst>
          </p:cNvPr>
          <p:cNvSpPr>
            <a:spLocks noGrp="1"/>
          </p:cNvSpPr>
          <p:nvPr>
            <p:ph type="dt" sz="half" idx="10"/>
          </p:nvPr>
        </p:nvSpPr>
        <p:spPr/>
        <p:txBody>
          <a:bodyPr/>
          <a:lstStyle/>
          <a:p>
            <a:fld id="{EFED9B9D-D8FC-48B4-B4E5-93F9A51FFA53}" type="datetimeFigureOut">
              <a:rPr lang="en-GB" smtClean="0"/>
              <a:t>08/05/2026</a:t>
            </a:fld>
            <a:endParaRPr lang="en-GB"/>
          </a:p>
        </p:txBody>
      </p:sp>
      <p:sp>
        <p:nvSpPr>
          <p:cNvPr id="4" name="Footer Placeholder 3">
            <a:extLst>
              <a:ext uri="{FF2B5EF4-FFF2-40B4-BE49-F238E27FC236}">
                <a16:creationId xmlns:a16="http://schemas.microsoft.com/office/drawing/2014/main" id="{1E582800-AB90-A14B-2A61-D7484F7E436B}"/>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89FC9231-4E2B-7CFE-E1E0-51514983EB3B}"/>
              </a:ext>
            </a:extLst>
          </p:cNvPr>
          <p:cNvSpPr>
            <a:spLocks noGrp="1"/>
          </p:cNvSpPr>
          <p:nvPr>
            <p:ph type="sldNum" sz="quarter" idx="12"/>
          </p:nvPr>
        </p:nvSpPr>
        <p:spPr/>
        <p:txBody>
          <a:bodyPr/>
          <a:lstStyle/>
          <a:p>
            <a:fld id="{1ED867A2-E625-4F0B-AFE7-61C26DED8F35}" type="slidenum">
              <a:rPr lang="en-GB" smtClean="0"/>
              <a:t>‹#›</a:t>
            </a:fld>
            <a:endParaRPr lang="en-GB"/>
          </a:p>
        </p:txBody>
      </p:sp>
    </p:spTree>
    <p:extLst>
      <p:ext uri="{BB962C8B-B14F-4D97-AF65-F5344CB8AC3E}">
        <p14:creationId xmlns:p14="http://schemas.microsoft.com/office/powerpoint/2010/main" val="16715247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E395B73-0284-B8D3-39A9-F1C9B9C814D8}"/>
              </a:ext>
            </a:extLst>
          </p:cNvPr>
          <p:cNvSpPr>
            <a:spLocks noGrp="1"/>
          </p:cNvSpPr>
          <p:nvPr>
            <p:ph type="dt" sz="half" idx="10"/>
          </p:nvPr>
        </p:nvSpPr>
        <p:spPr/>
        <p:txBody>
          <a:bodyPr/>
          <a:lstStyle/>
          <a:p>
            <a:fld id="{EFED9B9D-D8FC-48B4-B4E5-93F9A51FFA53}" type="datetimeFigureOut">
              <a:rPr lang="en-GB" smtClean="0"/>
              <a:t>08/05/2026</a:t>
            </a:fld>
            <a:endParaRPr lang="en-GB"/>
          </a:p>
        </p:txBody>
      </p:sp>
      <p:sp>
        <p:nvSpPr>
          <p:cNvPr id="3" name="Footer Placeholder 2">
            <a:extLst>
              <a:ext uri="{FF2B5EF4-FFF2-40B4-BE49-F238E27FC236}">
                <a16:creationId xmlns:a16="http://schemas.microsoft.com/office/drawing/2014/main" id="{C7C5A320-3DF3-45E3-594A-E0E93A0F23BE}"/>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096B115F-8749-727D-72AE-D4FBBFA36E2A}"/>
              </a:ext>
            </a:extLst>
          </p:cNvPr>
          <p:cNvSpPr>
            <a:spLocks noGrp="1"/>
          </p:cNvSpPr>
          <p:nvPr>
            <p:ph type="sldNum" sz="quarter" idx="12"/>
          </p:nvPr>
        </p:nvSpPr>
        <p:spPr/>
        <p:txBody>
          <a:bodyPr/>
          <a:lstStyle/>
          <a:p>
            <a:fld id="{1ED867A2-E625-4F0B-AFE7-61C26DED8F35}" type="slidenum">
              <a:rPr lang="en-GB" smtClean="0"/>
              <a:t>‹#›</a:t>
            </a:fld>
            <a:endParaRPr lang="en-GB"/>
          </a:p>
        </p:txBody>
      </p:sp>
    </p:spTree>
    <p:extLst>
      <p:ext uri="{BB962C8B-B14F-4D97-AF65-F5344CB8AC3E}">
        <p14:creationId xmlns:p14="http://schemas.microsoft.com/office/powerpoint/2010/main" val="26125149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36B64-DC9F-81A6-1599-C6E4B975AB5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424AAB65-BBED-BBF7-0511-F7FF66430C9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5937A4DA-E793-1AAE-62BC-0E3C8B253C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318570D-8886-5451-DECB-6A91FFCCB4F3}"/>
              </a:ext>
            </a:extLst>
          </p:cNvPr>
          <p:cNvSpPr>
            <a:spLocks noGrp="1"/>
          </p:cNvSpPr>
          <p:nvPr>
            <p:ph type="dt" sz="half" idx="10"/>
          </p:nvPr>
        </p:nvSpPr>
        <p:spPr/>
        <p:txBody>
          <a:bodyPr/>
          <a:lstStyle/>
          <a:p>
            <a:fld id="{EFED9B9D-D8FC-48B4-B4E5-93F9A51FFA53}" type="datetimeFigureOut">
              <a:rPr lang="en-GB" smtClean="0"/>
              <a:t>08/05/2026</a:t>
            </a:fld>
            <a:endParaRPr lang="en-GB"/>
          </a:p>
        </p:txBody>
      </p:sp>
      <p:sp>
        <p:nvSpPr>
          <p:cNvPr id="6" name="Footer Placeholder 5">
            <a:extLst>
              <a:ext uri="{FF2B5EF4-FFF2-40B4-BE49-F238E27FC236}">
                <a16:creationId xmlns:a16="http://schemas.microsoft.com/office/drawing/2014/main" id="{8B287637-1029-CB1C-EF17-28E10DD7CF0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FEAD0073-BDA0-917D-CC9D-A9C16904BC66}"/>
              </a:ext>
            </a:extLst>
          </p:cNvPr>
          <p:cNvSpPr>
            <a:spLocks noGrp="1"/>
          </p:cNvSpPr>
          <p:nvPr>
            <p:ph type="sldNum" sz="quarter" idx="12"/>
          </p:nvPr>
        </p:nvSpPr>
        <p:spPr/>
        <p:txBody>
          <a:bodyPr/>
          <a:lstStyle/>
          <a:p>
            <a:fld id="{1ED867A2-E625-4F0B-AFE7-61C26DED8F35}" type="slidenum">
              <a:rPr lang="en-GB" smtClean="0"/>
              <a:t>‹#›</a:t>
            </a:fld>
            <a:endParaRPr lang="en-GB"/>
          </a:p>
        </p:txBody>
      </p:sp>
    </p:spTree>
    <p:extLst>
      <p:ext uri="{BB962C8B-B14F-4D97-AF65-F5344CB8AC3E}">
        <p14:creationId xmlns:p14="http://schemas.microsoft.com/office/powerpoint/2010/main" val="29731812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1AF347-14D5-F6B0-5394-B4DECDB9670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0133B11D-1A18-D54E-BC75-489EFAB586A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29751AD8-FF13-6C4B-C103-AF2E40CC95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17CFDF7-6CC4-085A-8BCD-D56B36A60B78}"/>
              </a:ext>
            </a:extLst>
          </p:cNvPr>
          <p:cNvSpPr>
            <a:spLocks noGrp="1"/>
          </p:cNvSpPr>
          <p:nvPr>
            <p:ph type="dt" sz="half" idx="10"/>
          </p:nvPr>
        </p:nvSpPr>
        <p:spPr/>
        <p:txBody>
          <a:bodyPr/>
          <a:lstStyle/>
          <a:p>
            <a:fld id="{EFED9B9D-D8FC-48B4-B4E5-93F9A51FFA53}" type="datetimeFigureOut">
              <a:rPr lang="en-GB" smtClean="0"/>
              <a:t>08/05/2026</a:t>
            </a:fld>
            <a:endParaRPr lang="en-GB"/>
          </a:p>
        </p:txBody>
      </p:sp>
      <p:sp>
        <p:nvSpPr>
          <p:cNvPr id="6" name="Footer Placeholder 5">
            <a:extLst>
              <a:ext uri="{FF2B5EF4-FFF2-40B4-BE49-F238E27FC236}">
                <a16:creationId xmlns:a16="http://schemas.microsoft.com/office/drawing/2014/main" id="{4333C39E-5AE2-B890-3B23-9FE7128F7FB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E695773-CF65-731A-6B62-9E34B85EED3C}"/>
              </a:ext>
            </a:extLst>
          </p:cNvPr>
          <p:cNvSpPr>
            <a:spLocks noGrp="1"/>
          </p:cNvSpPr>
          <p:nvPr>
            <p:ph type="sldNum" sz="quarter" idx="12"/>
          </p:nvPr>
        </p:nvSpPr>
        <p:spPr/>
        <p:txBody>
          <a:bodyPr/>
          <a:lstStyle/>
          <a:p>
            <a:fld id="{1ED867A2-E625-4F0B-AFE7-61C26DED8F35}" type="slidenum">
              <a:rPr lang="en-GB" smtClean="0"/>
              <a:t>‹#›</a:t>
            </a:fld>
            <a:endParaRPr lang="en-GB"/>
          </a:p>
        </p:txBody>
      </p:sp>
    </p:spTree>
    <p:extLst>
      <p:ext uri="{BB962C8B-B14F-4D97-AF65-F5344CB8AC3E}">
        <p14:creationId xmlns:p14="http://schemas.microsoft.com/office/powerpoint/2010/main" val="12196094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5A78FF-D20A-D4B0-FE6E-23C0E8C5145C}"/>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270BA754-3A59-0CF1-41FA-85F0E7E0237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D739FD8-454F-179D-F9DC-48E33494E318}"/>
              </a:ext>
            </a:extLst>
          </p:cNvPr>
          <p:cNvSpPr>
            <a:spLocks noGrp="1"/>
          </p:cNvSpPr>
          <p:nvPr>
            <p:ph type="dt" sz="half" idx="10"/>
          </p:nvPr>
        </p:nvSpPr>
        <p:spPr/>
        <p:txBody>
          <a:bodyPr/>
          <a:lstStyle/>
          <a:p>
            <a:fld id="{EFED9B9D-D8FC-48B4-B4E5-93F9A51FFA53}" type="datetimeFigureOut">
              <a:rPr lang="en-GB" smtClean="0"/>
              <a:t>08/05/2026</a:t>
            </a:fld>
            <a:endParaRPr lang="en-GB"/>
          </a:p>
        </p:txBody>
      </p:sp>
      <p:sp>
        <p:nvSpPr>
          <p:cNvPr id="5" name="Footer Placeholder 4">
            <a:extLst>
              <a:ext uri="{FF2B5EF4-FFF2-40B4-BE49-F238E27FC236}">
                <a16:creationId xmlns:a16="http://schemas.microsoft.com/office/drawing/2014/main" id="{8546745D-1660-38F1-0B9D-D285809E402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C52B991-3B9A-8D80-0A60-2AF5A17E20A1}"/>
              </a:ext>
            </a:extLst>
          </p:cNvPr>
          <p:cNvSpPr>
            <a:spLocks noGrp="1"/>
          </p:cNvSpPr>
          <p:nvPr>
            <p:ph type="sldNum" sz="quarter" idx="12"/>
          </p:nvPr>
        </p:nvSpPr>
        <p:spPr/>
        <p:txBody>
          <a:bodyPr/>
          <a:lstStyle/>
          <a:p>
            <a:fld id="{1ED867A2-E625-4F0B-AFE7-61C26DED8F35}" type="slidenum">
              <a:rPr lang="en-GB" smtClean="0"/>
              <a:t>‹#›</a:t>
            </a:fld>
            <a:endParaRPr lang="en-GB"/>
          </a:p>
        </p:txBody>
      </p:sp>
    </p:spTree>
    <p:extLst>
      <p:ext uri="{BB962C8B-B14F-4D97-AF65-F5344CB8AC3E}">
        <p14:creationId xmlns:p14="http://schemas.microsoft.com/office/powerpoint/2010/main" val="12967268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3279F9-011E-D2A9-49EA-CCEA9D072AB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35F7E501-8A19-1147-66FA-824DDB8EA61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5A22EBB-629D-BC6A-AFB4-61C4573A6882}"/>
              </a:ext>
            </a:extLst>
          </p:cNvPr>
          <p:cNvSpPr>
            <a:spLocks noGrp="1"/>
          </p:cNvSpPr>
          <p:nvPr>
            <p:ph type="dt" sz="half" idx="10"/>
          </p:nvPr>
        </p:nvSpPr>
        <p:spPr/>
        <p:txBody>
          <a:bodyPr/>
          <a:lstStyle/>
          <a:p>
            <a:fld id="{EFED9B9D-D8FC-48B4-B4E5-93F9A51FFA53}" type="datetimeFigureOut">
              <a:rPr lang="en-GB" smtClean="0"/>
              <a:t>08/05/2026</a:t>
            </a:fld>
            <a:endParaRPr lang="en-GB"/>
          </a:p>
        </p:txBody>
      </p:sp>
      <p:sp>
        <p:nvSpPr>
          <p:cNvPr id="5" name="Footer Placeholder 4">
            <a:extLst>
              <a:ext uri="{FF2B5EF4-FFF2-40B4-BE49-F238E27FC236}">
                <a16:creationId xmlns:a16="http://schemas.microsoft.com/office/drawing/2014/main" id="{8981CD76-A556-65C6-AF64-713577A6DEF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E437053-D10D-3F2D-CD53-510B6F9600B2}"/>
              </a:ext>
            </a:extLst>
          </p:cNvPr>
          <p:cNvSpPr>
            <a:spLocks noGrp="1"/>
          </p:cNvSpPr>
          <p:nvPr>
            <p:ph type="sldNum" sz="quarter" idx="12"/>
          </p:nvPr>
        </p:nvSpPr>
        <p:spPr/>
        <p:txBody>
          <a:bodyPr/>
          <a:lstStyle/>
          <a:p>
            <a:fld id="{1ED867A2-E625-4F0B-AFE7-61C26DED8F35}" type="slidenum">
              <a:rPr lang="en-GB" smtClean="0"/>
              <a:t>‹#›</a:t>
            </a:fld>
            <a:endParaRPr lang="en-GB"/>
          </a:p>
        </p:txBody>
      </p:sp>
    </p:spTree>
    <p:extLst>
      <p:ext uri="{BB962C8B-B14F-4D97-AF65-F5344CB8AC3E}">
        <p14:creationId xmlns:p14="http://schemas.microsoft.com/office/powerpoint/2010/main" val="9624819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A937E0-6A29-BD03-C8C0-9A2DC6A61EB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9B02C714-3BC4-82D9-AF69-24223C450F1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DD95F5E-4DED-5D92-7533-4AD5CBCF273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FED9B9D-D8FC-48B4-B4E5-93F9A51FFA53}" type="datetimeFigureOut">
              <a:rPr lang="en-GB" smtClean="0"/>
              <a:t>08/05/2026</a:t>
            </a:fld>
            <a:endParaRPr lang="en-GB"/>
          </a:p>
        </p:txBody>
      </p:sp>
      <p:sp>
        <p:nvSpPr>
          <p:cNvPr id="5" name="Footer Placeholder 4">
            <a:extLst>
              <a:ext uri="{FF2B5EF4-FFF2-40B4-BE49-F238E27FC236}">
                <a16:creationId xmlns:a16="http://schemas.microsoft.com/office/drawing/2014/main" id="{8460E8F8-F362-FA5B-040B-BBFB7DF4B8C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28F6C997-0D80-6A4F-B524-857C96237F4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ED867A2-E625-4F0B-AFE7-61C26DED8F35}" type="slidenum">
              <a:rPr lang="en-GB" smtClean="0"/>
              <a:t>‹#›</a:t>
            </a:fld>
            <a:endParaRPr lang="en-GB"/>
          </a:p>
        </p:txBody>
      </p:sp>
    </p:spTree>
    <p:extLst>
      <p:ext uri="{BB962C8B-B14F-4D97-AF65-F5344CB8AC3E}">
        <p14:creationId xmlns:p14="http://schemas.microsoft.com/office/powerpoint/2010/main" val="22380226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5C561-FF7B-ADA5-C05D-CA6EEDAFCE39}"/>
              </a:ext>
            </a:extLst>
          </p:cNvPr>
          <p:cNvSpPr>
            <a:spLocks noGrp="1"/>
          </p:cNvSpPr>
          <p:nvPr>
            <p:ph type="ctrTitle"/>
          </p:nvPr>
        </p:nvSpPr>
        <p:spPr/>
        <p:txBody>
          <a:bodyPr>
            <a:normAutofit fontScale="90000"/>
          </a:bodyPr>
          <a:lstStyle/>
          <a:p>
            <a:r>
              <a:rPr lang="en-US" dirty="0"/>
              <a:t>Person-based accessibility analysis of a car-free Berlin using MATSim</a:t>
            </a:r>
            <a:endParaRPr lang="en-GB" dirty="0"/>
          </a:p>
        </p:txBody>
      </p:sp>
      <p:sp>
        <p:nvSpPr>
          <p:cNvPr id="6" name="Subtitle 5">
            <a:extLst>
              <a:ext uri="{FF2B5EF4-FFF2-40B4-BE49-F238E27FC236}">
                <a16:creationId xmlns:a16="http://schemas.microsoft.com/office/drawing/2014/main" id="{74B1A2C9-7C80-4DE6-8264-CA785F9CC1C3}"/>
              </a:ext>
            </a:extLst>
          </p:cNvPr>
          <p:cNvSpPr>
            <a:spLocks noGrp="1"/>
          </p:cNvSpPr>
          <p:nvPr>
            <p:ph type="subTitle" idx="1"/>
          </p:nvPr>
        </p:nvSpPr>
        <p:spPr/>
        <p:txBody>
          <a:bodyPr/>
          <a:lstStyle/>
          <a:p>
            <a:r>
              <a:rPr lang="en-US" dirty="0" err="1"/>
              <a:t>Zwischenpr</a:t>
            </a:r>
            <a:r>
              <a:rPr lang="de-DE" dirty="0"/>
              <a:t>äsentation</a:t>
            </a:r>
          </a:p>
          <a:p>
            <a:r>
              <a:rPr lang="en-US" dirty="0"/>
              <a:t>Ardias Tumiwa (396966)</a:t>
            </a:r>
          </a:p>
          <a:p>
            <a:r>
              <a:rPr lang="en-US" dirty="0"/>
              <a:t>Supervisor: Jakob Rehmann</a:t>
            </a:r>
          </a:p>
        </p:txBody>
      </p:sp>
    </p:spTree>
    <p:extLst>
      <p:ext uri="{BB962C8B-B14F-4D97-AF65-F5344CB8AC3E}">
        <p14:creationId xmlns:p14="http://schemas.microsoft.com/office/powerpoint/2010/main" val="21548326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0D062EF-4F98-4366-E7C4-8F8407BD5F52}"/>
              </a:ext>
            </a:extLst>
          </p:cNvPr>
          <p:cNvSpPr>
            <a:spLocks noGrp="1"/>
          </p:cNvSpPr>
          <p:nvPr>
            <p:ph type="title"/>
          </p:nvPr>
        </p:nvSpPr>
        <p:spPr/>
        <p:txBody>
          <a:bodyPr/>
          <a:lstStyle/>
          <a:p>
            <a:r>
              <a:rPr lang="en-US" dirty="0"/>
              <a:t>Structure</a:t>
            </a:r>
            <a:endParaRPr lang="en-GB" dirty="0"/>
          </a:p>
        </p:txBody>
      </p:sp>
      <p:sp>
        <p:nvSpPr>
          <p:cNvPr id="3" name="Content Placeholder 2">
            <a:extLst>
              <a:ext uri="{FF2B5EF4-FFF2-40B4-BE49-F238E27FC236}">
                <a16:creationId xmlns:a16="http://schemas.microsoft.com/office/drawing/2014/main" id="{46CCB9DD-5A9D-A96D-5515-6F26D0D1E1A8}"/>
              </a:ext>
            </a:extLst>
          </p:cNvPr>
          <p:cNvSpPr>
            <a:spLocks noGrp="1"/>
          </p:cNvSpPr>
          <p:nvPr>
            <p:ph sz="half" idx="1"/>
          </p:nvPr>
        </p:nvSpPr>
        <p:spPr/>
        <p:txBody>
          <a:bodyPr>
            <a:normAutofit/>
          </a:bodyPr>
          <a:lstStyle/>
          <a:p>
            <a:pPr marL="0" indent="0">
              <a:buNone/>
            </a:pPr>
            <a:r>
              <a:rPr lang="en-US" sz="2000" dirty="0"/>
              <a:t>Part I: Introduction</a:t>
            </a:r>
          </a:p>
          <a:p>
            <a:pPr marL="0" indent="0">
              <a:buNone/>
            </a:pPr>
            <a:r>
              <a:rPr lang="en-US" sz="2000" dirty="0"/>
              <a:t>1.1	Research question</a:t>
            </a:r>
          </a:p>
          <a:p>
            <a:pPr marL="0" indent="0">
              <a:buNone/>
            </a:pPr>
            <a:r>
              <a:rPr lang="en-GB" sz="2000" dirty="0"/>
              <a:t>Part II: Methodology</a:t>
            </a:r>
          </a:p>
          <a:p>
            <a:pPr marL="0" indent="0">
              <a:buNone/>
            </a:pPr>
            <a:r>
              <a:rPr lang="en-GB" sz="2000" dirty="0"/>
              <a:t>2.1 	MATSim framework</a:t>
            </a:r>
            <a:br>
              <a:rPr lang="en-GB" sz="2000" dirty="0"/>
            </a:br>
            <a:r>
              <a:rPr lang="en-GB" sz="2000" dirty="0"/>
              <a:t>2.2	Scenarios</a:t>
            </a:r>
            <a:br>
              <a:rPr lang="en-GB" sz="2000" dirty="0"/>
            </a:br>
            <a:r>
              <a:rPr lang="en-GB" sz="2000" dirty="0"/>
              <a:t>2.3	Accessibility</a:t>
            </a:r>
            <a:br>
              <a:rPr lang="en-GB" sz="2000" dirty="0"/>
            </a:br>
            <a:r>
              <a:rPr lang="en-GB" sz="2000" dirty="0"/>
              <a:t>2.4	Person-based accessibility</a:t>
            </a:r>
            <a:br>
              <a:rPr lang="en-GB" sz="2000" dirty="0"/>
            </a:br>
            <a:r>
              <a:rPr lang="en-GB" sz="2000" dirty="0"/>
              <a:t>2.5	Multimodal accessibility</a:t>
            </a:r>
          </a:p>
        </p:txBody>
      </p:sp>
      <p:sp>
        <p:nvSpPr>
          <p:cNvPr id="5" name="Content Placeholder 4">
            <a:extLst>
              <a:ext uri="{FF2B5EF4-FFF2-40B4-BE49-F238E27FC236}">
                <a16:creationId xmlns:a16="http://schemas.microsoft.com/office/drawing/2014/main" id="{74FFC482-8240-7BC2-CDDC-C38F3433359C}"/>
              </a:ext>
            </a:extLst>
          </p:cNvPr>
          <p:cNvSpPr>
            <a:spLocks noGrp="1"/>
          </p:cNvSpPr>
          <p:nvPr>
            <p:ph sz="half" idx="2"/>
          </p:nvPr>
        </p:nvSpPr>
        <p:spPr/>
        <p:txBody>
          <a:bodyPr>
            <a:normAutofit/>
          </a:bodyPr>
          <a:lstStyle/>
          <a:p>
            <a:pPr marL="0" indent="0">
              <a:buNone/>
            </a:pPr>
            <a:r>
              <a:rPr lang="en-GB" sz="2000" dirty="0"/>
              <a:t>Part III: Results</a:t>
            </a:r>
          </a:p>
          <a:p>
            <a:pPr marL="0" indent="0">
              <a:buNone/>
            </a:pPr>
            <a:r>
              <a:rPr lang="en-GB" sz="2000" dirty="0"/>
              <a:t>3.1	Base vs policy scenario</a:t>
            </a:r>
            <a:br>
              <a:rPr lang="en-GB" sz="2000" dirty="0"/>
            </a:br>
            <a:r>
              <a:rPr lang="en-GB" sz="2000" dirty="0"/>
              <a:t>3.2	Multimodal accessibility by income</a:t>
            </a:r>
            <a:br>
              <a:rPr lang="en-GB" sz="2000" dirty="0"/>
            </a:br>
            <a:r>
              <a:rPr lang="en-GB" sz="2000" dirty="0"/>
              <a:t>3.3	Multimodal accessibility by district</a:t>
            </a:r>
          </a:p>
          <a:p>
            <a:pPr marL="0" indent="0">
              <a:buNone/>
            </a:pPr>
            <a:r>
              <a:rPr lang="en-GB" sz="2000" dirty="0"/>
              <a:t>Part IV: Summary</a:t>
            </a:r>
          </a:p>
          <a:p>
            <a:pPr marL="0" indent="0">
              <a:buNone/>
            </a:pPr>
            <a:r>
              <a:rPr lang="en-GB" sz="2000" dirty="0"/>
              <a:t>4.1	Conclusion</a:t>
            </a:r>
            <a:br>
              <a:rPr lang="en-GB" sz="2000" dirty="0"/>
            </a:br>
            <a:r>
              <a:rPr lang="en-GB" sz="2000" dirty="0"/>
              <a:t>4.2	Remaining work and timeline</a:t>
            </a:r>
            <a:br>
              <a:rPr lang="en-GB" sz="2000" dirty="0"/>
            </a:br>
            <a:r>
              <a:rPr lang="en-GB" sz="2000" dirty="0"/>
              <a:t>4.3	Questions</a:t>
            </a:r>
          </a:p>
          <a:p>
            <a:pPr marL="0" indent="0">
              <a:buNone/>
            </a:pPr>
            <a:endParaRPr lang="en-GB" sz="2400" dirty="0"/>
          </a:p>
        </p:txBody>
      </p:sp>
    </p:spTree>
    <p:extLst>
      <p:ext uri="{BB962C8B-B14F-4D97-AF65-F5344CB8AC3E}">
        <p14:creationId xmlns:p14="http://schemas.microsoft.com/office/powerpoint/2010/main" val="2320877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018FC-4A2A-3492-2B7D-51185B1D9475}"/>
              </a:ext>
            </a:extLst>
          </p:cNvPr>
          <p:cNvSpPr>
            <a:spLocks noGrp="1"/>
          </p:cNvSpPr>
          <p:nvPr>
            <p:ph type="title"/>
          </p:nvPr>
        </p:nvSpPr>
        <p:spPr/>
        <p:txBody>
          <a:bodyPr/>
          <a:lstStyle/>
          <a:p>
            <a:r>
              <a:rPr lang="en-US" dirty="0"/>
              <a:t>1.1 Research question</a:t>
            </a:r>
            <a:endParaRPr lang="en-GB" dirty="0"/>
          </a:p>
        </p:txBody>
      </p:sp>
      <p:sp>
        <p:nvSpPr>
          <p:cNvPr id="3" name="Content Placeholder 2">
            <a:extLst>
              <a:ext uri="{FF2B5EF4-FFF2-40B4-BE49-F238E27FC236}">
                <a16:creationId xmlns:a16="http://schemas.microsoft.com/office/drawing/2014/main" id="{BCB8F592-E885-CC5E-A55C-1057059292D1}"/>
              </a:ext>
            </a:extLst>
          </p:cNvPr>
          <p:cNvSpPr>
            <a:spLocks noGrp="1"/>
          </p:cNvSpPr>
          <p:nvPr>
            <p:ph idx="1"/>
          </p:nvPr>
        </p:nvSpPr>
        <p:spPr/>
        <p:txBody>
          <a:bodyPr>
            <a:normAutofit/>
          </a:bodyPr>
          <a:lstStyle/>
          <a:p>
            <a:pPr marL="0" indent="0">
              <a:buNone/>
            </a:pPr>
            <a:r>
              <a:rPr lang="en-US" dirty="0"/>
              <a:t>How does a car-free scenario in Berlin affect person-based accessibility using MATSim?</a:t>
            </a:r>
          </a:p>
          <a:p>
            <a:pPr marL="0" indent="0">
              <a:buNone/>
            </a:pPr>
            <a:r>
              <a:rPr lang="en-US" sz="2000" dirty="0"/>
              <a:t>Methodological research questions:</a:t>
            </a:r>
          </a:p>
          <a:p>
            <a:r>
              <a:rPr lang="en-US" sz="2000" dirty="0"/>
              <a:t>How does person-based accessibility compare to location-based accessibility in evaluating policy impacts? (1)</a:t>
            </a:r>
          </a:p>
          <a:p>
            <a:r>
              <a:rPr lang="en-US" sz="2000" dirty="0"/>
              <a:t>How does multimodal accessibility alter the interpretation of accessibility and equity effects? (2)</a:t>
            </a:r>
          </a:p>
          <a:p>
            <a:pPr marL="0" indent="0">
              <a:buNone/>
            </a:pPr>
            <a:r>
              <a:rPr lang="en-US" sz="2000" dirty="0"/>
              <a:t>Case study research questions:</a:t>
            </a:r>
          </a:p>
          <a:p>
            <a:r>
              <a:rPr lang="en-GB" sz="2000" dirty="0"/>
              <a:t>How are the accessibility effects distributed across income groups and districts in Berlin? (3)</a:t>
            </a:r>
          </a:p>
          <a:p>
            <a:r>
              <a:rPr lang="en-GB" sz="2000" dirty="0"/>
              <a:t>Which socio-demographic groups experience gains/losses in accessibility under the car-free scenario? (4)</a:t>
            </a:r>
          </a:p>
          <a:p>
            <a:endParaRPr lang="en-GB" dirty="0"/>
          </a:p>
        </p:txBody>
      </p:sp>
    </p:spTree>
    <p:extLst>
      <p:ext uri="{BB962C8B-B14F-4D97-AF65-F5344CB8AC3E}">
        <p14:creationId xmlns:p14="http://schemas.microsoft.com/office/powerpoint/2010/main" val="22557627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DCEAF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92A822-C7CA-EE9C-FC43-ABF06482DA9C}"/>
              </a:ext>
            </a:extLst>
          </p:cNvPr>
          <p:cNvSpPr>
            <a:spLocks noGrp="1"/>
          </p:cNvSpPr>
          <p:nvPr>
            <p:ph type="title"/>
          </p:nvPr>
        </p:nvSpPr>
        <p:spPr/>
        <p:txBody>
          <a:bodyPr/>
          <a:lstStyle/>
          <a:p>
            <a:r>
              <a:rPr lang="en-US" b="1" dirty="0"/>
              <a:t>Research questions</a:t>
            </a:r>
            <a:endParaRPr lang="en-GB" dirty="0"/>
          </a:p>
        </p:txBody>
      </p:sp>
      <p:sp>
        <p:nvSpPr>
          <p:cNvPr id="3" name="Content Placeholder 2">
            <a:extLst>
              <a:ext uri="{FF2B5EF4-FFF2-40B4-BE49-F238E27FC236}">
                <a16:creationId xmlns:a16="http://schemas.microsoft.com/office/drawing/2014/main" id="{27BCEE16-74FB-8BF9-599F-82FAF9C37629}"/>
              </a:ext>
            </a:extLst>
          </p:cNvPr>
          <p:cNvSpPr>
            <a:spLocks noGrp="1"/>
          </p:cNvSpPr>
          <p:nvPr>
            <p:ph idx="1"/>
          </p:nvPr>
        </p:nvSpPr>
        <p:spPr/>
        <p:txBody>
          <a:bodyPr>
            <a:normAutofit fontScale="62500" lnSpcReduction="20000"/>
          </a:bodyPr>
          <a:lstStyle/>
          <a:p>
            <a:r>
              <a:rPr lang="en-US" b="1" dirty="0"/>
              <a:t>How does a car-free zone in Berlin affect person-based accessibility, and how are these effects influenced by income?</a:t>
            </a:r>
            <a:endParaRPr lang="en-GB" b="1" dirty="0"/>
          </a:p>
          <a:p>
            <a:r>
              <a:rPr lang="en-US" dirty="0"/>
              <a:t>Methodological research questions:</a:t>
            </a:r>
            <a:endParaRPr lang="en-GB" dirty="0"/>
          </a:p>
          <a:p>
            <a:pPr lvl="0"/>
            <a:r>
              <a:rPr lang="en-US" dirty="0"/>
              <a:t>How does person-based accessibility differ from location/grid-based accessibility in evaluation transport policy impacts?</a:t>
            </a:r>
            <a:endParaRPr lang="en-GB" dirty="0"/>
          </a:p>
          <a:p>
            <a:pPr lvl="0"/>
            <a:r>
              <a:rPr lang="en-US" dirty="0"/>
              <a:t>How does factoring income into the utility function influence individual accessibility outcomes?</a:t>
            </a:r>
            <a:endParaRPr lang="en-GB" dirty="0"/>
          </a:p>
          <a:p>
            <a:pPr lvl="0"/>
            <a:r>
              <a:rPr lang="en-US" dirty="0"/>
              <a:t>How does multi-modal accessibility alter the interpretation of policy impacts compared to person-based accessibility?</a:t>
            </a:r>
            <a:endParaRPr lang="en-GB" dirty="0"/>
          </a:p>
          <a:p>
            <a:r>
              <a:rPr lang="en-US" dirty="0"/>
              <a:t>Case study research questions: </a:t>
            </a:r>
            <a:endParaRPr lang="en-GB" dirty="0"/>
          </a:p>
          <a:p>
            <a:pPr lvl="0"/>
            <a:r>
              <a:rPr lang="en-US" dirty="0"/>
              <a:t>What is the overall impact of the car-free zone on accessibility in Berlin?</a:t>
            </a:r>
            <a:endParaRPr lang="en-GB" dirty="0"/>
          </a:p>
          <a:p>
            <a:pPr lvl="0"/>
            <a:r>
              <a:rPr lang="en-US" dirty="0"/>
              <a:t>How are accessibility changes distributed across different income groups?</a:t>
            </a:r>
            <a:endParaRPr lang="en-GB" dirty="0"/>
          </a:p>
          <a:p>
            <a:pPr lvl="0"/>
            <a:r>
              <a:rPr lang="en-US" dirty="0"/>
              <a:t>Which individuals or groups benefit from or are disadvantaged by the car-free zone policy?</a:t>
            </a:r>
            <a:endParaRPr lang="en-GB" dirty="0"/>
          </a:p>
          <a:p>
            <a:pPr lvl="0"/>
            <a:r>
              <a:rPr lang="en-US" dirty="0"/>
              <a:t>How are accessibility impacts distributed spatially across Berlin districts?</a:t>
            </a:r>
            <a:endParaRPr lang="en-GB" dirty="0"/>
          </a:p>
          <a:p>
            <a:pPr lvl="0"/>
            <a:r>
              <a:rPr lang="en-US" dirty="0"/>
              <a:t>To what extent are accessibility changes driven by differences in mode dependence rather than income alone? (one of the hypotheses)</a:t>
            </a:r>
            <a:endParaRPr lang="en-GB" dirty="0"/>
          </a:p>
          <a:p>
            <a:endParaRPr lang="en-GB" dirty="0"/>
          </a:p>
        </p:txBody>
      </p:sp>
    </p:spTree>
    <p:extLst>
      <p:ext uri="{BB962C8B-B14F-4D97-AF65-F5344CB8AC3E}">
        <p14:creationId xmlns:p14="http://schemas.microsoft.com/office/powerpoint/2010/main" val="31536331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13F533-95BA-F64D-4447-113FC0783242}"/>
              </a:ext>
            </a:extLst>
          </p:cNvPr>
          <p:cNvSpPr>
            <a:spLocks noGrp="1"/>
          </p:cNvSpPr>
          <p:nvPr>
            <p:ph type="title"/>
          </p:nvPr>
        </p:nvSpPr>
        <p:spPr/>
        <p:txBody>
          <a:bodyPr/>
          <a:lstStyle/>
          <a:p>
            <a:r>
              <a:rPr lang="en-US" dirty="0"/>
              <a:t>2.1 MATSim framework</a:t>
            </a:r>
            <a:endParaRPr lang="en-GB" dirty="0"/>
          </a:p>
        </p:txBody>
      </p:sp>
      <p:sp>
        <p:nvSpPr>
          <p:cNvPr id="3" name="Content Placeholder 2">
            <a:extLst>
              <a:ext uri="{FF2B5EF4-FFF2-40B4-BE49-F238E27FC236}">
                <a16:creationId xmlns:a16="http://schemas.microsoft.com/office/drawing/2014/main" id="{674B4E44-CFD6-BA55-F252-CD40A574A816}"/>
              </a:ext>
            </a:extLst>
          </p:cNvPr>
          <p:cNvSpPr>
            <a:spLocks noGrp="1"/>
          </p:cNvSpPr>
          <p:nvPr>
            <p:ph idx="1"/>
          </p:nvPr>
        </p:nvSpPr>
        <p:spPr/>
        <p:txBody>
          <a:bodyPr>
            <a:normAutofit/>
          </a:bodyPr>
          <a:lstStyle/>
          <a:p>
            <a:pPr marL="0" indent="0">
              <a:buNone/>
            </a:pPr>
            <a:r>
              <a:rPr lang="en-US" dirty="0"/>
              <a:t>Why MATSim?</a:t>
            </a:r>
          </a:p>
          <a:p>
            <a:r>
              <a:rPr lang="en-US" dirty="0"/>
              <a:t>Agent-based simulation framework</a:t>
            </a:r>
          </a:p>
          <a:p>
            <a:pPr lvl="1"/>
            <a:r>
              <a:rPr lang="en-US" dirty="0"/>
              <a:t>Agents are assigned individual socio-demographic attributes</a:t>
            </a:r>
          </a:p>
          <a:p>
            <a:r>
              <a:rPr lang="en-US" dirty="0"/>
              <a:t>Modularity of networks (including public transport)</a:t>
            </a:r>
          </a:p>
          <a:p>
            <a:r>
              <a:rPr lang="en-US" dirty="0"/>
              <a:t>Existing framework for accessibility module</a:t>
            </a:r>
          </a:p>
          <a:p>
            <a:r>
              <a:rPr lang="en-US" dirty="0"/>
              <a:t>Ability to implement policy measures</a:t>
            </a:r>
          </a:p>
          <a:p>
            <a:pPr marL="0" indent="0">
              <a:buNone/>
            </a:pPr>
            <a:endParaRPr lang="en-GB" dirty="0"/>
          </a:p>
          <a:p>
            <a:pPr marL="0" indent="0">
              <a:buNone/>
            </a:pPr>
            <a:r>
              <a:rPr lang="en-GB" dirty="0"/>
              <a:t>Accessibility: Location/grid-based</a:t>
            </a:r>
          </a:p>
        </p:txBody>
      </p:sp>
    </p:spTree>
    <p:extLst>
      <p:ext uri="{BB962C8B-B14F-4D97-AF65-F5344CB8AC3E}">
        <p14:creationId xmlns:p14="http://schemas.microsoft.com/office/powerpoint/2010/main" val="8964986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7EB90-7C9E-0DC7-4292-EB12B91BBDA3}"/>
              </a:ext>
            </a:extLst>
          </p:cNvPr>
          <p:cNvSpPr>
            <a:spLocks noGrp="1"/>
          </p:cNvSpPr>
          <p:nvPr>
            <p:ph type="title"/>
          </p:nvPr>
        </p:nvSpPr>
        <p:spPr/>
        <p:txBody>
          <a:bodyPr/>
          <a:lstStyle/>
          <a:p>
            <a:r>
              <a:rPr lang="en-US" dirty="0"/>
              <a:t>2.2 Scenarios</a:t>
            </a:r>
            <a:endParaRPr lang="en-GB" dirty="0"/>
          </a:p>
        </p:txBody>
      </p:sp>
      <p:sp>
        <p:nvSpPr>
          <p:cNvPr id="4" name="Content Placeholder 3">
            <a:extLst>
              <a:ext uri="{FF2B5EF4-FFF2-40B4-BE49-F238E27FC236}">
                <a16:creationId xmlns:a16="http://schemas.microsoft.com/office/drawing/2014/main" id="{F642C380-DA35-2274-0681-0D1BEDC52DDE}"/>
              </a:ext>
            </a:extLst>
          </p:cNvPr>
          <p:cNvSpPr>
            <a:spLocks noGrp="1"/>
          </p:cNvSpPr>
          <p:nvPr>
            <p:ph sz="half" idx="1"/>
          </p:nvPr>
        </p:nvSpPr>
        <p:spPr/>
        <p:txBody>
          <a:bodyPr>
            <a:normAutofit/>
          </a:bodyPr>
          <a:lstStyle/>
          <a:p>
            <a:pPr marL="0" indent="0">
              <a:buNone/>
            </a:pPr>
            <a:r>
              <a:rPr lang="en-US" dirty="0"/>
              <a:t>Base</a:t>
            </a:r>
          </a:p>
          <a:p>
            <a:r>
              <a:rPr lang="en-GB" dirty="0"/>
              <a:t>Represents a default Berlin network</a:t>
            </a:r>
          </a:p>
          <a:p>
            <a:r>
              <a:rPr lang="en-GB" dirty="0"/>
              <a:t>Full car access including inner ring</a:t>
            </a:r>
          </a:p>
          <a:p>
            <a:r>
              <a:rPr lang="en-GB" dirty="0"/>
              <a:t>Based using the v6.3 1% files</a:t>
            </a:r>
          </a:p>
        </p:txBody>
      </p:sp>
      <p:sp>
        <p:nvSpPr>
          <p:cNvPr id="5" name="Content Placeholder 4">
            <a:extLst>
              <a:ext uri="{FF2B5EF4-FFF2-40B4-BE49-F238E27FC236}">
                <a16:creationId xmlns:a16="http://schemas.microsoft.com/office/drawing/2014/main" id="{D83BE7F5-D01A-9061-E5A5-F9C97D521F2D}"/>
              </a:ext>
            </a:extLst>
          </p:cNvPr>
          <p:cNvSpPr>
            <a:spLocks noGrp="1"/>
          </p:cNvSpPr>
          <p:nvPr>
            <p:ph sz="half" idx="2"/>
          </p:nvPr>
        </p:nvSpPr>
        <p:spPr/>
        <p:txBody>
          <a:bodyPr>
            <a:normAutofit/>
          </a:bodyPr>
          <a:lstStyle/>
          <a:p>
            <a:pPr marL="0" indent="0">
              <a:buNone/>
            </a:pPr>
            <a:r>
              <a:rPr lang="en-US" dirty="0"/>
              <a:t>Policy</a:t>
            </a:r>
          </a:p>
          <a:p>
            <a:r>
              <a:rPr lang="en-US" dirty="0"/>
              <a:t>Car access restricted within inner ring of Berlin</a:t>
            </a:r>
          </a:p>
          <a:p>
            <a:r>
              <a:rPr lang="en-US" dirty="0"/>
              <a:t>Walking and pt remain the same as base scenario because no new infrastructure improvements implemented for these modes in the policy scenario</a:t>
            </a:r>
            <a:endParaRPr lang="en-GB" dirty="0"/>
          </a:p>
        </p:txBody>
      </p:sp>
    </p:spTree>
    <p:extLst>
      <p:ext uri="{BB962C8B-B14F-4D97-AF65-F5344CB8AC3E}">
        <p14:creationId xmlns:p14="http://schemas.microsoft.com/office/powerpoint/2010/main" val="18505866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8B188D0-9A1F-153C-2F37-213AEF3A7DB4}"/>
              </a:ext>
            </a:extLst>
          </p:cNvPr>
          <p:cNvSpPr>
            <a:spLocks noGrp="1"/>
          </p:cNvSpPr>
          <p:nvPr>
            <p:ph type="title"/>
          </p:nvPr>
        </p:nvSpPr>
        <p:spPr/>
        <p:txBody>
          <a:bodyPr/>
          <a:lstStyle/>
          <a:p>
            <a:r>
              <a:rPr lang="en-US" dirty="0"/>
              <a:t>Facilities</a:t>
            </a:r>
            <a:endParaRPr lang="en-GB" dirty="0"/>
          </a:p>
        </p:txBody>
      </p:sp>
      <p:pic>
        <p:nvPicPr>
          <p:cNvPr id="12" name="Picture Placeholder 11">
            <a:extLst>
              <a:ext uri="{FF2B5EF4-FFF2-40B4-BE49-F238E27FC236}">
                <a16:creationId xmlns:a16="http://schemas.microsoft.com/office/drawing/2014/main" id="{C120B08C-7704-22AA-0276-CA5F3C2EA307}"/>
              </a:ext>
            </a:extLst>
          </p:cNvPr>
          <p:cNvPicPr>
            <a:picLocks noGrp="1" noChangeAspect="1"/>
          </p:cNvPicPr>
          <p:nvPr>
            <p:ph type="pic" idx="1"/>
          </p:nvPr>
        </p:nvPicPr>
        <p:blipFill>
          <a:blip r:embed="rId3">
            <a:extLst>
              <a:ext uri="{28A0092B-C50C-407E-A947-70E740481C1C}">
                <a14:useLocalDpi xmlns:a14="http://schemas.microsoft.com/office/drawing/2010/main" val="0"/>
              </a:ext>
            </a:extLst>
          </a:blip>
          <a:srcRect l="627" r="627"/>
          <a:stretch>
            <a:fillRect/>
          </a:stretch>
        </p:blipFill>
        <p:spPr>
          <a:prstGeom prst="rect">
            <a:avLst/>
          </a:prstGeom>
        </p:spPr>
      </p:pic>
      <p:sp>
        <p:nvSpPr>
          <p:cNvPr id="10" name="Text Placeholder 9">
            <a:extLst>
              <a:ext uri="{FF2B5EF4-FFF2-40B4-BE49-F238E27FC236}">
                <a16:creationId xmlns:a16="http://schemas.microsoft.com/office/drawing/2014/main" id="{8101FBAC-E959-EDE1-C397-948EAB043E0F}"/>
              </a:ext>
            </a:extLst>
          </p:cNvPr>
          <p:cNvSpPr>
            <a:spLocks noGrp="1"/>
          </p:cNvSpPr>
          <p:nvPr>
            <p:ph type="body" sz="half" idx="2"/>
          </p:nvPr>
        </p:nvSpPr>
        <p:spPr/>
        <p:txBody>
          <a:bodyPr/>
          <a:lstStyle/>
          <a:p>
            <a:r>
              <a:rPr lang="en-US" dirty="0"/>
              <a:t>Map of facilities</a:t>
            </a:r>
          </a:p>
          <a:p>
            <a:r>
              <a:rPr lang="en-GB" dirty="0"/>
              <a:t>So currently still using berlin spas as the facilities to run everything the accessibility computation.</a:t>
            </a:r>
          </a:p>
          <a:p>
            <a:r>
              <a:rPr lang="en-GB" dirty="0"/>
              <a:t>Reason being that it has been used in the start of this whole process and still being used and added upon ever since and already have existing tables/graphs/plots for it.</a:t>
            </a:r>
          </a:p>
          <a:p>
            <a:r>
              <a:rPr lang="en-GB" dirty="0"/>
              <a:t>However, switch to other facilities can simply be done in the java code.</a:t>
            </a:r>
          </a:p>
          <a:p>
            <a:endParaRPr lang="en-GB" dirty="0">
              <a:highlight>
                <a:srgbClr val="DBF1D3"/>
              </a:highlight>
            </a:endParaRPr>
          </a:p>
        </p:txBody>
      </p:sp>
    </p:spTree>
    <p:extLst>
      <p:ext uri="{BB962C8B-B14F-4D97-AF65-F5344CB8AC3E}">
        <p14:creationId xmlns:p14="http://schemas.microsoft.com/office/powerpoint/2010/main" val="18548853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4BF4CA-D53E-2D0F-4018-77BBBB8DA155}"/>
              </a:ext>
            </a:extLst>
          </p:cNvPr>
          <p:cNvSpPr>
            <a:spLocks noGrp="1"/>
          </p:cNvSpPr>
          <p:nvPr>
            <p:ph type="title"/>
          </p:nvPr>
        </p:nvSpPr>
        <p:spPr/>
        <p:txBody>
          <a:bodyPr/>
          <a:lstStyle/>
          <a:p>
            <a:r>
              <a:rPr lang="en-US" dirty="0"/>
              <a:t>2.3 Person-based accessibility</a:t>
            </a:r>
            <a:endParaRPr lang="en-GB"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E9A252F-F0EF-2DC2-71B7-51BB713B9FE7}"/>
                  </a:ext>
                </a:extLst>
              </p:cNvPr>
              <p:cNvSpPr>
                <a:spLocks noGrp="1"/>
              </p:cNvSpPr>
              <p:nvPr>
                <p:ph idx="1"/>
              </p:nvPr>
            </p:nvSpPr>
            <p:spPr/>
            <p:txBody>
              <a:bodyPr>
                <a:normAutofit fontScale="70000" lnSpcReduction="20000"/>
              </a:bodyPr>
              <a:lstStyle/>
              <a:p>
                <a:pPr marL="0" indent="0">
                  <a:buNone/>
                </a:pPr>
                <a:r>
                  <a:rPr lang="en-US" b="1" dirty="0"/>
                  <a:t>Why?</a:t>
                </a:r>
              </a:p>
              <a:p>
                <a:r>
                  <a:rPr lang="en-US" dirty="0"/>
                  <a:t>Agents are assessed at an individual level</a:t>
                </a:r>
              </a:p>
              <a:p>
                <a:r>
                  <a:rPr lang="en-US" dirty="0"/>
                  <a:t>Considers their socio-demographic attributes</a:t>
                </a:r>
              </a:p>
              <a:p>
                <a:r>
                  <a:rPr lang="en-US" dirty="0"/>
                  <a:t>Allows distributional and equity analysis</a:t>
                </a:r>
              </a:p>
              <a:p>
                <a:r>
                  <a:rPr lang="en-US" dirty="0"/>
                  <a:t>Also, would be the groundwork for multimodal accessibility</a:t>
                </a:r>
              </a:p>
              <a:p>
                <a:pPr marL="0" indent="0">
                  <a:buNone/>
                </a:pPr>
                <a:r>
                  <a:rPr lang="en-US" b="1" dirty="0"/>
                  <a:t>How?</a:t>
                </a:r>
              </a:p>
              <a:p>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𝐴𝑐𝑐</m:t>
                        </m:r>
                      </m:e>
                      <m:sub>
                        <m:r>
                          <a:rPr lang="en-US" b="0" i="1" smtClean="0">
                            <a:latin typeface="Cambria Math" panose="02040503050406030204" pitchFamily="18" charset="0"/>
                          </a:rPr>
                          <m:t>𝑐𝑎𝑟</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de-DE" i="1">
                            <a:latin typeface="Cambria Math" panose="02040503050406030204" pitchFamily="18" charset="0"/>
                          </a:rPr>
                          <m:t>ß</m:t>
                        </m:r>
                      </m:den>
                    </m:f>
                    <m:sSub>
                      <m:sSubPr>
                        <m:ctrlPr>
                          <a:rPr lang="en-US" i="1">
                            <a:latin typeface="Cambria Math" panose="02040503050406030204" pitchFamily="18" charset="0"/>
                          </a:rPr>
                        </m:ctrlPr>
                      </m:sSubPr>
                      <m:e>
                        <m:r>
                          <m:rPr>
                            <m:sty m:val="p"/>
                          </m:rPr>
                          <a:rPr lang="en-US" b="0" i="0" smtClean="0">
                            <a:latin typeface="Cambria Math" panose="02040503050406030204" pitchFamily="18" charset="0"/>
                          </a:rPr>
                          <m:t>l</m:t>
                        </m:r>
                        <m:r>
                          <a:rPr lang="en-US" b="0" i="1" smtClean="0">
                            <a:latin typeface="Cambria Math" panose="02040503050406030204" pitchFamily="18" charset="0"/>
                          </a:rPr>
                          <m:t>𝑜𝑔</m:t>
                        </m:r>
                        <m:r>
                          <a:rPr lang="en-US" b="0" i="1" smtClean="0">
                            <a:latin typeface="Cambria Math" panose="02040503050406030204" pitchFamily="18" charset="0"/>
                          </a:rPr>
                          <m:t>⁡(</m:t>
                        </m:r>
                        <m:r>
                          <a:rPr lang="en-US" i="1">
                            <a:latin typeface="Cambria Math" panose="02040503050406030204" pitchFamily="18" charset="0"/>
                          </a:rPr>
                          <m:t>𝑒𝑥𝑝𝑆𝑢𝑚</m:t>
                        </m:r>
                      </m:e>
                      <m:sub>
                        <m:r>
                          <a:rPr lang="en-US" i="1">
                            <a:latin typeface="Cambria Math" panose="02040503050406030204" pitchFamily="18" charset="0"/>
                          </a:rPr>
                          <m:t>𝑐𝑎𝑟</m:t>
                        </m:r>
                      </m:sub>
                    </m:sSub>
                    <m:r>
                      <a:rPr lang="en-US" b="0" i="1" smtClean="0">
                        <a:latin typeface="Cambria Math" panose="02040503050406030204" pitchFamily="18" charset="0"/>
                      </a:rPr>
                      <m:t>)</m:t>
                    </m:r>
                  </m:oMath>
                </a14:m>
                <a:endParaRPr lang="en-GB" dirty="0">
                  <a:highlight>
                    <a:srgbClr val="F2CFEE"/>
                  </a:highlight>
                </a:endParaRPr>
              </a:p>
              <a:p>
                <a:r>
                  <a:rPr lang="en-US" dirty="0"/>
                  <a:t>Components of car utility (</a:t>
                </a:r>
                <a14:m>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𝑒𝑥𝑝𝑆𝑢𝑚</m:t>
                        </m:r>
                      </m:e>
                      <m:sub>
                        <m:r>
                          <a:rPr lang="en-US" i="1">
                            <a:latin typeface="Cambria Math" panose="02040503050406030204" pitchFamily="18" charset="0"/>
                          </a:rPr>
                          <m:t>𝑐𝑎𝑟</m:t>
                        </m:r>
                      </m:sub>
                    </m:sSub>
                    <m:r>
                      <a:rPr lang="en-US" b="0" i="1" smtClean="0">
                        <a:latin typeface="Cambria Math" panose="02040503050406030204" pitchFamily="18" charset="0"/>
                      </a:rPr>
                      <m:t>)</m:t>
                    </m:r>
                  </m:oMath>
                </a14:m>
                <a:endParaRPr lang="en-US" dirty="0"/>
              </a:p>
              <a:p>
                <a:r>
                  <a:rPr lang="en-GB" dirty="0">
                    <a:highlight>
                      <a:srgbClr val="DCEAF7"/>
                    </a:highlight>
                  </a:rPr>
                  <a:t>Mode specific constant</a:t>
                </a:r>
              </a:p>
              <a:p>
                <a:r>
                  <a:rPr lang="en-GB" dirty="0">
                    <a:highlight>
                      <a:srgbClr val="DBF1D3"/>
                    </a:highlight>
                  </a:rPr>
                  <a:t>Marginal utility of time spent traveling * Travel time</a:t>
                </a:r>
              </a:p>
              <a:p>
                <a:r>
                  <a:rPr lang="en-GB" dirty="0">
                    <a:highlight>
                      <a:srgbClr val="FBE3D6"/>
                    </a:highlight>
                  </a:rPr>
                  <a:t>Marginal utility of distance * distance</a:t>
                </a:r>
              </a:p>
              <a:p>
                <a:r>
                  <a:rPr lang="en-GB" dirty="0">
                    <a:highlight>
                      <a:srgbClr val="F2CFEE"/>
                    </a:highlight>
                  </a:rPr>
                  <a:t>Marginal utility of money *monetary distance rate * distance</a:t>
                </a:r>
              </a:p>
              <a:p>
                <a:pPr marL="0" indent="0">
                  <a:buNone/>
                </a:pPr>
                <a:endParaRPr lang="en-US" dirty="0">
                  <a:highlight>
                    <a:srgbClr val="FFFFCC"/>
                  </a:highlight>
                </a:endParaRPr>
              </a:p>
              <a:p>
                <a:pPr marL="0" indent="0">
                  <a:buNone/>
                </a:pPr>
                <a:endParaRPr lang="en-US" dirty="0"/>
              </a:p>
              <a:p>
                <a:endParaRPr lang="en-GB" dirty="0"/>
              </a:p>
            </p:txBody>
          </p:sp>
        </mc:Choice>
        <mc:Fallback xmlns="">
          <p:sp>
            <p:nvSpPr>
              <p:cNvPr id="3" name="Content Placeholder 2">
                <a:extLst>
                  <a:ext uri="{FF2B5EF4-FFF2-40B4-BE49-F238E27FC236}">
                    <a16:creationId xmlns:a16="http://schemas.microsoft.com/office/drawing/2014/main" id="{0E9A252F-F0EF-2DC2-71B7-51BB713B9FE7}"/>
                  </a:ext>
                </a:extLst>
              </p:cNvPr>
              <p:cNvSpPr>
                <a:spLocks noGrp="1" noRot="1" noChangeAspect="1" noMove="1" noResize="1" noEditPoints="1" noAdjustHandles="1" noChangeArrowheads="1" noChangeShapeType="1" noTextEdit="1"/>
              </p:cNvSpPr>
              <p:nvPr>
                <p:ph idx="1"/>
              </p:nvPr>
            </p:nvSpPr>
            <p:spPr>
              <a:blipFill>
                <a:blip r:embed="rId3"/>
                <a:stretch>
                  <a:fillRect l="-638" t="-2381"/>
                </a:stretch>
              </a:blipFill>
            </p:spPr>
            <p:txBody>
              <a:bodyPr/>
              <a:lstStyle/>
              <a:p>
                <a:r>
                  <a:rPr lang="en-GB">
                    <a:noFill/>
                  </a:rPr>
                  <a:t> </a:t>
                </a:r>
              </a:p>
            </p:txBody>
          </p:sp>
        </mc:Fallback>
      </mc:AlternateContent>
      <p:pic>
        <p:nvPicPr>
          <p:cNvPr id="11" name="Picture 10">
            <a:extLst>
              <a:ext uri="{FF2B5EF4-FFF2-40B4-BE49-F238E27FC236}">
                <a16:creationId xmlns:a16="http://schemas.microsoft.com/office/drawing/2014/main" id="{D1F2291A-449C-B8D6-CF20-EF1D7AB3D6A2}"/>
              </a:ext>
            </a:extLst>
          </p:cNvPr>
          <p:cNvPicPr>
            <a:picLocks noChangeAspect="1"/>
          </p:cNvPicPr>
          <p:nvPr/>
        </p:nvPicPr>
        <p:blipFill>
          <a:blip r:embed="rId4"/>
          <a:stretch>
            <a:fillRect/>
          </a:stretch>
        </p:blipFill>
        <p:spPr>
          <a:xfrm>
            <a:off x="5943244" y="3899648"/>
            <a:ext cx="5410556" cy="848519"/>
          </a:xfrm>
          <a:prstGeom prst="rect">
            <a:avLst/>
          </a:prstGeom>
        </p:spPr>
      </p:pic>
    </p:spTree>
    <p:extLst>
      <p:ext uri="{BB962C8B-B14F-4D97-AF65-F5344CB8AC3E}">
        <p14:creationId xmlns:p14="http://schemas.microsoft.com/office/powerpoint/2010/main" val="20126361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E6EA1-4359-67DC-F847-E453ABB354F0}"/>
              </a:ext>
            </a:extLst>
          </p:cNvPr>
          <p:cNvSpPr>
            <a:spLocks noGrp="1"/>
          </p:cNvSpPr>
          <p:nvPr>
            <p:ph type="title"/>
          </p:nvPr>
        </p:nvSpPr>
        <p:spPr/>
        <p:txBody>
          <a:bodyPr/>
          <a:lstStyle/>
          <a:p>
            <a:r>
              <a:rPr lang="en-US" dirty="0"/>
              <a:t>2.3 Person-based accessibility</a:t>
            </a:r>
            <a:endParaRPr lang="en-GB" dirty="0"/>
          </a:p>
        </p:txBody>
      </p:sp>
      <p:pic>
        <p:nvPicPr>
          <p:cNvPr id="7" name="Content Placeholder 6">
            <a:extLst>
              <a:ext uri="{FF2B5EF4-FFF2-40B4-BE49-F238E27FC236}">
                <a16:creationId xmlns:a16="http://schemas.microsoft.com/office/drawing/2014/main" id="{6E420131-7678-3439-A857-208A41971499}"/>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525587" y="987425"/>
            <a:ext cx="5487402" cy="4873625"/>
          </a:xfrm>
          <a:prstGeom prst="rect">
            <a:avLst/>
          </a:prstGeom>
        </p:spPr>
      </p:pic>
      <mc:AlternateContent xmlns:mc="http://schemas.openxmlformats.org/markup-compatibility/2006" xmlns:a14="http://schemas.microsoft.com/office/drawing/2010/main">
        <mc:Choice Requires="a14">
          <p:sp>
            <p:nvSpPr>
              <p:cNvPr id="5" name="Text Placeholder 4">
                <a:extLst>
                  <a:ext uri="{FF2B5EF4-FFF2-40B4-BE49-F238E27FC236}">
                    <a16:creationId xmlns:a16="http://schemas.microsoft.com/office/drawing/2014/main" id="{2D96929B-0758-3C06-9306-908086BE751E}"/>
                  </a:ext>
                </a:extLst>
              </p:cNvPr>
              <p:cNvSpPr>
                <a:spLocks noGrp="1"/>
              </p:cNvSpPr>
              <p:nvPr>
                <p:ph type="body" sz="half" idx="2"/>
              </p:nvPr>
            </p:nvSpPr>
            <p:spPr/>
            <p:txBody>
              <a:bodyPr>
                <a:normAutofit fontScale="92500" lnSpcReduction="20000"/>
              </a:bodyPr>
              <a:lstStyle/>
              <a:p>
                <a:r>
                  <a:rPr lang="en-US" dirty="0"/>
                  <a:t>Boxplot shows the car accessibility delta grouped by income.</a:t>
                </a:r>
              </a:p>
              <a:p>
                <a:r>
                  <a:rPr lang="en-US" dirty="0"/>
                  <a:t>This reveals how the </a:t>
                </a:r>
                <a:r>
                  <a:rPr lang="en-US" dirty="0" err="1"/>
                  <a:t>incomeFactor</a:t>
                </a:r>
                <a:r>
                  <a:rPr lang="en-US" dirty="0"/>
                  <a:t> works within the car accessibility calculation.</a:t>
                </a: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𝑖𝑛𝑐𝑜𝑚𝑒𝐹𝑎𝑐𝑡𝑜𝑟</m:t>
                      </m:r>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𝑔𝑙𝑜𝑏𝑎𝑙𝐴𝑣𝑒𝑟𝑎𝑔𝑒𝐼𝑛𝑐𝑜𝑚𝑒</m:t>
                          </m:r>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𝑖𝑛𝑐𝑜𝑚𝑒</m:t>
                              </m:r>
                            </m:e>
                            <m:sub>
                              <m:r>
                                <a:rPr lang="en-US" b="0" i="1" smtClean="0">
                                  <a:latin typeface="Cambria Math" panose="02040503050406030204" pitchFamily="18" charset="0"/>
                                </a:rPr>
                                <m:t>𝑝𝑒𝑟𝑠𝑜𝑛</m:t>
                              </m:r>
                            </m:sub>
                          </m:sSub>
                        </m:den>
                      </m:f>
                    </m:oMath>
                  </m:oMathPara>
                </a14:m>
                <a:endParaRPr lang="en-US" dirty="0"/>
              </a:p>
              <a:p>
                <a:r>
                  <a:rPr lang="en-US" dirty="0"/>
                  <a:t>Takes into account the global avg income and then each agents’ income factor is then determined with</a:t>
                </a:r>
              </a:p>
              <a:p>
                <a:r>
                  <a:rPr lang="en-GB" dirty="0"/>
                  <a:t>double </a:t>
                </a:r>
                <a:r>
                  <a:rPr lang="en-GB" dirty="0" err="1"/>
                  <a:t>incomeFactor</a:t>
                </a:r>
                <a:r>
                  <a:rPr lang="en-GB" dirty="0"/>
                  <a:t> = </a:t>
                </a:r>
                <a:r>
                  <a:rPr lang="en-GB" dirty="0" err="1"/>
                  <a:t>this.globalAverageIncome</a:t>
                </a:r>
                <a:r>
                  <a:rPr lang="en-GB" dirty="0"/>
                  <a:t> / </a:t>
                </a:r>
                <a:r>
                  <a:rPr lang="en-GB" dirty="0" err="1"/>
                  <a:t>PersonUtils.</a:t>
                </a:r>
                <a:r>
                  <a:rPr lang="en-GB" i="1" dirty="0" err="1"/>
                  <a:t>getIncome</a:t>
                </a:r>
                <a:r>
                  <a:rPr lang="en-GB" dirty="0"/>
                  <a:t>((Person) </a:t>
                </a:r>
                <a:r>
                  <a:rPr lang="en-GB" dirty="0" err="1"/>
                  <a:t>origin.getAttributes</a:t>
                </a:r>
                <a:r>
                  <a:rPr lang="en-GB" dirty="0"/>
                  <a:t>().</a:t>
                </a:r>
                <a:r>
                  <a:rPr lang="en-GB" dirty="0" err="1"/>
                  <a:t>getAttribute</a:t>
                </a:r>
                <a:r>
                  <a:rPr lang="en-GB" dirty="0"/>
                  <a:t>("person"));</a:t>
                </a:r>
              </a:p>
              <a:p>
                <a:r>
                  <a:rPr lang="en-US" dirty="0"/>
                  <a:t>And then multiplied to the marginal utility of money:</a:t>
                </a:r>
              </a:p>
              <a:p>
                <a:r>
                  <a:rPr lang="en-US" dirty="0"/>
                  <a:t>double </a:t>
                </a:r>
                <a:r>
                  <a:rPr lang="en-US" dirty="0" err="1"/>
                  <a:t>utilityDistCarMonetary</a:t>
                </a:r>
                <a:r>
                  <a:rPr lang="en-US" dirty="0"/>
                  <a:t> = </a:t>
                </a:r>
                <a:r>
                  <a:rPr lang="en-US" dirty="0" err="1"/>
                  <a:t>distCar</a:t>
                </a:r>
                <a:r>
                  <a:rPr lang="en-US" dirty="0"/>
                  <a:t> * </a:t>
                </a:r>
                <a:r>
                  <a:rPr lang="en-US" dirty="0" err="1"/>
                  <a:t>betaCarDistMonetary_m</a:t>
                </a:r>
                <a:r>
                  <a:rPr lang="en-US" dirty="0"/>
                  <a:t> * </a:t>
                </a:r>
                <a:r>
                  <a:rPr lang="en-US" dirty="0" err="1"/>
                  <a:t>marginalUtilityOfMoney</a:t>
                </a:r>
                <a:r>
                  <a:rPr lang="en-US" dirty="0"/>
                  <a:t> * </a:t>
                </a:r>
                <a:r>
                  <a:rPr lang="en-US" dirty="0" err="1"/>
                  <a:t>incomeFactor</a:t>
                </a:r>
                <a:r>
                  <a:rPr lang="en-US" dirty="0"/>
                  <a:t>;</a:t>
                </a:r>
                <a:endParaRPr lang="en-GB" dirty="0"/>
              </a:p>
              <a:p>
                <a:endParaRPr lang="en-US" dirty="0"/>
              </a:p>
              <a:p>
                <a:endParaRPr lang="en-US" dirty="0"/>
              </a:p>
              <a:p>
                <a:endParaRPr lang="en-US" dirty="0"/>
              </a:p>
            </p:txBody>
          </p:sp>
        </mc:Choice>
        <mc:Fallback xmlns="">
          <p:sp>
            <p:nvSpPr>
              <p:cNvPr id="5" name="Text Placeholder 4">
                <a:extLst>
                  <a:ext uri="{FF2B5EF4-FFF2-40B4-BE49-F238E27FC236}">
                    <a16:creationId xmlns:a16="http://schemas.microsoft.com/office/drawing/2014/main" id="{2D96929B-0758-3C06-9306-908086BE751E}"/>
                  </a:ext>
                </a:extLst>
              </p:cNvPr>
              <p:cNvSpPr>
                <a:spLocks noGrp="1" noRot="1" noChangeAspect="1" noMove="1" noResize="1" noEditPoints="1" noAdjustHandles="1" noChangeArrowheads="1" noChangeShapeType="1" noTextEdit="1"/>
              </p:cNvSpPr>
              <p:nvPr>
                <p:ph type="body" sz="half" idx="2"/>
              </p:nvPr>
            </p:nvSpPr>
            <p:spPr>
              <a:blipFill>
                <a:blip r:embed="rId4"/>
                <a:stretch>
                  <a:fillRect l="-620" t="-1760" r="-310" b="-160"/>
                </a:stretch>
              </a:blipFill>
            </p:spPr>
            <p:txBody>
              <a:bodyPr/>
              <a:lstStyle/>
              <a:p>
                <a:r>
                  <a:rPr lang="en-GB">
                    <a:noFill/>
                  </a:rPr>
                  <a:t> </a:t>
                </a:r>
              </a:p>
            </p:txBody>
          </p:sp>
        </mc:Fallback>
      </mc:AlternateContent>
    </p:spTree>
    <p:extLst>
      <p:ext uri="{BB962C8B-B14F-4D97-AF65-F5344CB8AC3E}">
        <p14:creationId xmlns:p14="http://schemas.microsoft.com/office/powerpoint/2010/main" val="20881669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9A668-B38A-EAE1-4CA4-C313BD094FFF}"/>
              </a:ext>
            </a:extLst>
          </p:cNvPr>
          <p:cNvSpPr>
            <a:spLocks noGrp="1"/>
          </p:cNvSpPr>
          <p:nvPr>
            <p:ph type="title"/>
          </p:nvPr>
        </p:nvSpPr>
        <p:spPr/>
        <p:txBody>
          <a:bodyPr/>
          <a:lstStyle/>
          <a:p>
            <a:r>
              <a:rPr lang="en-US" dirty="0"/>
              <a:t>2.4 Multimodal accessibility</a:t>
            </a:r>
            <a:endParaRPr lang="en-GB"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42B1E1F-D08D-D342-91BA-59F0729FE495}"/>
                  </a:ext>
                </a:extLst>
              </p:cNvPr>
              <p:cNvSpPr>
                <a:spLocks noGrp="1"/>
              </p:cNvSpPr>
              <p:nvPr>
                <p:ph idx="1"/>
              </p:nvPr>
            </p:nvSpPr>
            <p:spPr/>
            <p:txBody>
              <a:bodyPr>
                <a:normAutofit lnSpcReduction="10000"/>
              </a:bodyPr>
              <a:lstStyle/>
              <a:p>
                <a:pPr marL="0" indent="0">
                  <a:buNone/>
                </a:pPr>
                <a:r>
                  <a:rPr lang="en-US" dirty="0"/>
                  <a:t>Why?</a:t>
                </a:r>
              </a:p>
              <a:p>
                <a:r>
                  <a:rPr lang="en-US" dirty="0"/>
                  <a:t>Reflects realistic behavioral choice set</a:t>
                </a:r>
              </a:p>
              <a:p>
                <a:r>
                  <a:rPr lang="en-US" dirty="0"/>
                  <a:t>Measures system-level accessibility</a:t>
                </a:r>
              </a:p>
              <a:p>
                <a:r>
                  <a:rPr lang="en-US" dirty="0"/>
                  <a:t>Allows a more in-depth evaluation on accessibility due to mode substitution</a:t>
                </a:r>
              </a:p>
              <a:p>
                <a:pPr marL="0" indent="0">
                  <a:buNone/>
                </a:pPr>
                <a:r>
                  <a:rPr lang="en-US" dirty="0"/>
                  <a:t>How?</a:t>
                </a:r>
              </a:p>
              <a:p>
                <a:pPr marL="0" indent="0">
                  <a:buNone/>
                </a:pP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𝐴𝑐𝑐</m:t>
                        </m:r>
                      </m:e>
                      <m:sub>
                        <m:r>
                          <a:rPr lang="en-US" b="0" i="1" smtClean="0">
                            <a:latin typeface="Cambria Math" panose="02040503050406030204" pitchFamily="18" charset="0"/>
                          </a:rPr>
                          <m:t>𝑚𝑚</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de-DE" i="1">
                            <a:latin typeface="Cambria Math" panose="02040503050406030204" pitchFamily="18" charset="0"/>
                          </a:rPr>
                          <m:t>ß</m:t>
                        </m:r>
                      </m:den>
                    </m:f>
                    <m:sSub>
                      <m:sSubPr>
                        <m:ctrlPr>
                          <a:rPr lang="en-US" i="1">
                            <a:latin typeface="Cambria Math" panose="02040503050406030204" pitchFamily="18" charset="0"/>
                          </a:rPr>
                        </m:ctrlPr>
                      </m:sSubPr>
                      <m:e>
                        <m:r>
                          <m:rPr>
                            <m:sty m:val="p"/>
                          </m:rPr>
                          <a:rPr lang="en-US" b="0" i="0" smtClean="0">
                            <a:latin typeface="Cambria Math" panose="02040503050406030204" pitchFamily="18" charset="0"/>
                          </a:rPr>
                          <m:t>l</m:t>
                        </m:r>
                        <m:r>
                          <a:rPr lang="en-US" b="0" i="1" smtClean="0">
                            <a:latin typeface="Cambria Math" panose="02040503050406030204" pitchFamily="18" charset="0"/>
                          </a:rPr>
                          <m:t>𝑜𝑔</m:t>
                        </m:r>
                        <m:r>
                          <a:rPr lang="en-US" b="0" i="1" smtClean="0">
                            <a:latin typeface="Cambria Math" panose="02040503050406030204" pitchFamily="18" charset="0"/>
                          </a:rPr>
                          <m:t>⁡(</m:t>
                        </m:r>
                        <m:r>
                          <a:rPr lang="en-US" i="1">
                            <a:latin typeface="Cambria Math" panose="02040503050406030204" pitchFamily="18" charset="0"/>
                          </a:rPr>
                          <m:t>𝑒𝑥𝑝𝑆𝑢𝑚</m:t>
                        </m:r>
                      </m:e>
                      <m:sub>
                        <m:r>
                          <a:rPr lang="en-US" i="1">
                            <a:latin typeface="Cambria Math" panose="02040503050406030204" pitchFamily="18" charset="0"/>
                          </a:rPr>
                          <m:t>𝑐𝑎𝑟</m:t>
                        </m:r>
                        <m:r>
                          <a:rPr lang="en-US" i="1">
                            <a:latin typeface="Cambria Math" panose="02040503050406030204" pitchFamily="18" charset="0"/>
                          </a:rPr>
                          <m:t>,</m:t>
                        </m:r>
                        <m:r>
                          <a:rPr lang="en-US" i="1">
                            <a:latin typeface="Cambria Math" panose="02040503050406030204" pitchFamily="18" charset="0"/>
                          </a:rPr>
                          <m:t>𝑏𝑎𝑠𝑒</m:t>
                        </m:r>
                        <m:r>
                          <a:rPr lang="en-US" b="0" i="1" smtClean="0">
                            <a:latin typeface="Cambria Math" panose="02040503050406030204" pitchFamily="18" charset="0"/>
                          </a:rPr>
                          <m:t>/</m:t>
                        </m:r>
                        <m:r>
                          <a:rPr lang="en-US" b="0" i="1" smtClean="0">
                            <a:latin typeface="Cambria Math" panose="02040503050406030204" pitchFamily="18" charset="0"/>
                          </a:rPr>
                          <m:t>𝑝𝑜𝑙𝑖𝑐𝑦</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𝑒𝑥𝑝𝑆𝑢𝑚</m:t>
                        </m:r>
                      </m:e>
                      <m:sub>
                        <m:r>
                          <a:rPr lang="en-US" i="1">
                            <a:latin typeface="Cambria Math" panose="02040503050406030204" pitchFamily="18" charset="0"/>
                          </a:rPr>
                          <m:t>𝑡𝑤𝑎𝑙𝑘</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𝑒𝑥𝑝𝑆𝑢𝑚</m:t>
                        </m:r>
                      </m:e>
                      <m:sub>
                        <m:r>
                          <a:rPr lang="en-US" i="1">
                            <a:latin typeface="Cambria Math" panose="02040503050406030204" pitchFamily="18" charset="0"/>
                          </a:rPr>
                          <m:t>𝑝𝑡</m:t>
                        </m:r>
                      </m:sub>
                    </m:sSub>
                  </m:oMath>
                </a14:m>
                <a:r>
                  <a:rPr lang="en-GB" dirty="0"/>
                  <a:t>) </a:t>
                </a:r>
              </a:p>
              <a:p>
                <a:pPr marL="0" indent="0">
                  <a:buNone/>
                </a:pPr>
                <a:endParaRPr lang="en-GB" dirty="0"/>
              </a:p>
              <a:p>
                <a:pPr marL="0" indent="0">
                  <a:buNone/>
                </a:pPr>
                <a:r>
                  <a:rPr lang="en-GB" dirty="0"/>
                  <a:t>*Why </a:t>
                </a:r>
                <a:r>
                  <a:rPr lang="en-GB" dirty="0" err="1"/>
                  <a:t>logSum</a:t>
                </a:r>
                <a:r>
                  <a:rPr lang="en-GB" dirty="0"/>
                  <a:t> of available modes instead of best available mode?</a:t>
                </a:r>
              </a:p>
            </p:txBody>
          </p:sp>
        </mc:Choice>
        <mc:Fallback xmlns="">
          <p:sp>
            <p:nvSpPr>
              <p:cNvPr id="3" name="Content Placeholder 2">
                <a:extLst>
                  <a:ext uri="{FF2B5EF4-FFF2-40B4-BE49-F238E27FC236}">
                    <a16:creationId xmlns:a16="http://schemas.microsoft.com/office/drawing/2014/main" id="{442B1E1F-D08D-D342-91BA-59F0729FE495}"/>
                  </a:ext>
                </a:extLst>
              </p:cNvPr>
              <p:cNvSpPr>
                <a:spLocks noGrp="1" noRot="1" noChangeAspect="1" noMove="1" noResize="1" noEditPoints="1" noAdjustHandles="1" noChangeArrowheads="1" noChangeShapeType="1" noTextEdit="1"/>
              </p:cNvSpPr>
              <p:nvPr>
                <p:ph idx="1"/>
              </p:nvPr>
            </p:nvSpPr>
            <p:spPr>
              <a:blipFill>
                <a:blip r:embed="rId3"/>
                <a:stretch>
                  <a:fillRect l="-1217" t="-3081" r="-522" b="-560"/>
                </a:stretch>
              </a:blipFill>
            </p:spPr>
            <p:txBody>
              <a:bodyPr/>
              <a:lstStyle/>
              <a:p>
                <a:r>
                  <a:rPr lang="en-GB">
                    <a:noFill/>
                  </a:rPr>
                  <a:t> </a:t>
                </a:r>
              </a:p>
            </p:txBody>
          </p:sp>
        </mc:Fallback>
      </mc:AlternateContent>
    </p:spTree>
    <p:extLst>
      <p:ext uri="{BB962C8B-B14F-4D97-AF65-F5344CB8AC3E}">
        <p14:creationId xmlns:p14="http://schemas.microsoft.com/office/powerpoint/2010/main" val="30547142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AC319B-DFF4-153B-B8BD-97A10E40D3F3}"/>
              </a:ext>
            </a:extLst>
          </p:cNvPr>
          <p:cNvSpPr>
            <a:spLocks noGrp="1"/>
          </p:cNvSpPr>
          <p:nvPr>
            <p:ph type="title"/>
          </p:nvPr>
        </p:nvSpPr>
        <p:spPr/>
        <p:txBody>
          <a:bodyPr/>
          <a:lstStyle/>
          <a:p>
            <a:r>
              <a:rPr lang="en-US" dirty="0"/>
              <a:t>Why </a:t>
            </a:r>
            <a:r>
              <a:rPr lang="en-US" dirty="0" err="1"/>
              <a:t>logSum</a:t>
            </a:r>
            <a:r>
              <a:rPr lang="en-US" dirty="0"/>
              <a:t> and not best mode score?</a:t>
            </a:r>
            <a:endParaRPr lang="en-GB"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9930FD3-8643-6371-9A28-9FE35FA87F9A}"/>
                  </a:ext>
                </a:extLst>
              </p:cNvPr>
              <p:cNvSpPr>
                <a:spLocks noGrp="1"/>
              </p:cNvSpPr>
              <p:nvPr>
                <p:ph idx="1"/>
              </p:nvPr>
            </p:nvSpPr>
            <p:spPr/>
            <p:txBody>
              <a:bodyPr>
                <a:normAutofit/>
              </a:bodyPr>
              <a:lstStyle/>
              <a:p>
                <a:r>
                  <a:rPr lang="en-US" dirty="0"/>
                  <a:t>logSum over modes:</a:t>
                </a:r>
              </a:p>
              <a:p>
                <a:pPr marL="0" indent="0" algn="ctr">
                  <a:buNone/>
                </a:pP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𝐴𝑐𝑐</m:t>
                        </m:r>
                      </m:e>
                      <m:sub>
                        <m:r>
                          <a:rPr lang="en-US" b="0" i="1" smtClean="0">
                            <a:latin typeface="Cambria Math" panose="02040503050406030204" pitchFamily="18" charset="0"/>
                          </a:rPr>
                          <m:t>𝑚𝑚</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de-DE" i="1">
                            <a:latin typeface="Cambria Math" panose="02040503050406030204" pitchFamily="18" charset="0"/>
                          </a:rPr>
                          <m:t>ß</m:t>
                        </m:r>
                      </m:den>
                    </m:f>
                    <m:sSub>
                      <m:sSubPr>
                        <m:ctrlPr>
                          <a:rPr lang="en-US" i="1">
                            <a:latin typeface="Cambria Math" panose="02040503050406030204" pitchFamily="18" charset="0"/>
                          </a:rPr>
                        </m:ctrlPr>
                      </m:sSubPr>
                      <m:e>
                        <m:r>
                          <m:rPr>
                            <m:sty m:val="p"/>
                          </m:rPr>
                          <a:rPr lang="en-US" b="0" i="0" smtClean="0">
                            <a:latin typeface="Cambria Math" panose="02040503050406030204" pitchFamily="18" charset="0"/>
                          </a:rPr>
                          <m:t>l</m:t>
                        </m:r>
                        <m:r>
                          <a:rPr lang="en-US" b="0" i="1" smtClean="0">
                            <a:latin typeface="Cambria Math" panose="02040503050406030204" pitchFamily="18" charset="0"/>
                          </a:rPr>
                          <m:t>𝑜𝑔</m:t>
                        </m:r>
                        <m:r>
                          <a:rPr lang="en-US" b="0" i="1" smtClean="0">
                            <a:latin typeface="Cambria Math" panose="02040503050406030204" pitchFamily="18" charset="0"/>
                          </a:rPr>
                          <m:t>⁡(</m:t>
                        </m:r>
                        <m:r>
                          <a:rPr lang="en-US" i="1">
                            <a:latin typeface="Cambria Math" panose="02040503050406030204" pitchFamily="18" charset="0"/>
                          </a:rPr>
                          <m:t>𝑒𝑥𝑝𝑆𝑢𝑚</m:t>
                        </m:r>
                      </m:e>
                      <m:sub>
                        <m:r>
                          <a:rPr lang="en-US" i="1">
                            <a:latin typeface="Cambria Math" panose="02040503050406030204" pitchFamily="18" charset="0"/>
                          </a:rPr>
                          <m:t>𝑐𝑎𝑟</m:t>
                        </m:r>
                        <m:r>
                          <a:rPr lang="en-US" i="1">
                            <a:latin typeface="Cambria Math" panose="02040503050406030204" pitchFamily="18" charset="0"/>
                          </a:rPr>
                          <m:t>,</m:t>
                        </m:r>
                        <m:r>
                          <a:rPr lang="en-US" i="1">
                            <a:latin typeface="Cambria Math" panose="02040503050406030204" pitchFamily="18" charset="0"/>
                          </a:rPr>
                          <m:t>𝑏𝑎𝑠𝑒</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𝑒𝑥𝑝𝑆𝑢𝑚</m:t>
                        </m:r>
                      </m:e>
                      <m:sub>
                        <m:r>
                          <a:rPr lang="en-US" i="1">
                            <a:latin typeface="Cambria Math" panose="02040503050406030204" pitchFamily="18" charset="0"/>
                          </a:rPr>
                          <m:t>𝑡𝑤𝑎𝑙𝑘</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𝑒𝑥𝑝𝑆𝑢𝑚</m:t>
                        </m:r>
                      </m:e>
                      <m:sub>
                        <m:r>
                          <a:rPr lang="en-US" i="1">
                            <a:latin typeface="Cambria Math" panose="02040503050406030204" pitchFamily="18" charset="0"/>
                          </a:rPr>
                          <m:t>𝑝𝑡</m:t>
                        </m:r>
                      </m:sub>
                    </m:sSub>
                  </m:oMath>
                </a14:m>
                <a:r>
                  <a:rPr lang="en-GB" dirty="0"/>
                  <a:t>)</a:t>
                </a:r>
              </a:p>
              <a:p>
                <a:r>
                  <a:rPr lang="en-GB" dirty="0"/>
                  <a:t>Best available mode:</a:t>
                </a:r>
              </a:p>
              <a:p>
                <a:pPr marL="0" indent="0">
                  <a:buNone/>
                </a:pPr>
                <a14:m>
                  <m:oMathPara xmlns:m="http://schemas.openxmlformats.org/officeDocument/2006/math">
                    <m:oMathParaPr>
                      <m:jc m:val="centerGroup"/>
                    </m:oMathParaPr>
                    <m:oMath xmlns:m="http://schemas.openxmlformats.org/officeDocument/2006/math">
                      <m:sSub>
                        <m:sSubPr>
                          <m:ctrlPr>
                            <a:rPr lang="en-GB" i="1" smtClean="0">
                              <a:latin typeface="Cambria Math" panose="02040503050406030204" pitchFamily="18" charset="0"/>
                            </a:rPr>
                          </m:ctrlPr>
                        </m:sSubPr>
                        <m:e>
                          <m:r>
                            <a:rPr lang="en-US" b="0" i="1" smtClean="0">
                              <a:latin typeface="Cambria Math" panose="02040503050406030204" pitchFamily="18" charset="0"/>
                            </a:rPr>
                            <m:t>𝐴𝑐𝑐</m:t>
                          </m:r>
                        </m:e>
                        <m:sub>
                          <m:r>
                            <a:rPr lang="en-US" b="0" i="1" smtClean="0">
                              <a:latin typeface="Cambria Math" panose="02040503050406030204" pitchFamily="18" charset="0"/>
                            </a:rPr>
                            <m:t>𝑚𝑎𝑥</m:t>
                          </m:r>
                        </m:sub>
                      </m:sSub>
                      <m:r>
                        <a:rPr lang="en-US" b="0" i="1" smtClean="0">
                          <a:latin typeface="Cambria Math" panose="02040503050406030204" pitchFamily="18" charset="0"/>
                        </a:rPr>
                        <m:t>=</m:t>
                      </m:r>
                      <m:r>
                        <m:rPr>
                          <m:sty m:val="p"/>
                        </m:rPr>
                        <a:rPr lang="en-US" b="0" i="0" smtClean="0">
                          <a:latin typeface="Cambria Math" panose="02040503050406030204" pitchFamily="18" charset="0"/>
                        </a:rPr>
                        <m:t>max</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𝐴𝑐𝑐</m:t>
                          </m:r>
                        </m:e>
                        <m:sub>
                          <m:r>
                            <a:rPr lang="en-US" b="0" i="1" smtClean="0">
                              <a:latin typeface="Cambria Math" panose="02040503050406030204" pitchFamily="18" charset="0"/>
                            </a:rPr>
                            <m:t>𝑐𝑎𝑟</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𝐴𝑐𝑐</m:t>
                          </m:r>
                        </m:e>
                        <m:sub>
                          <m:r>
                            <a:rPr lang="en-US" b="0" i="1" smtClean="0">
                              <a:latin typeface="Cambria Math" panose="02040503050406030204" pitchFamily="18" charset="0"/>
                            </a:rPr>
                            <m:t>𝑡𝑤𝑎𝑙𝑘</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𝐴𝑐𝑐</m:t>
                          </m:r>
                        </m:e>
                        <m:sub>
                          <m:r>
                            <a:rPr lang="en-US" b="0" i="1" smtClean="0">
                              <a:latin typeface="Cambria Math" panose="02040503050406030204" pitchFamily="18" charset="0"/>
                            </a:rPr>
                            <m:t>𝑝𝑡</m:t>
                          </m:r>
                        </m:sub>
                      </m:sSub>
                      <m:r>
                        <a:rPr lang="en-US" b="0" i="1" smtClean="0">
                          <a:latin typeface="Cambria Math" panose="02040503050406030204" pitchFamily="18" charset="0"/>
                        </a:rPr>
                        <m:t>)</m:t>
                      </m:r>
                    </m:oMath>
                  </m:oMathPara>
                </a14:m>
                <a:endParaRPr lang="en-GB" dirty="0"/>
              </a:p>
              <a:p>
                <a:pPr marL="0" indent="0">
                  <a:buNone/>
                </a:pPr>
                <a:r>
                  <a:rPr lang="en-GB" dirty="0" err="1"/>
                  <a:t>logSum</a:t>
                </a:r>
                <a:r>
                  <a:rPr lang="en-GB" dirty="0"/>
                  <a:t> captures the attractiveness of the best option AND values the alternatives as well</a:t>
                </a:r>
              </a:p>
              <a:p>
                <a:pPr marL="0" indent="0">
                  <a:buNone/>
                </a:pPr>
                <a:r>
                  <a:rPr lang="en-GB" dirty="0"/>
                  <a:t>Best available mode values only the best option and ignores all other alternatives.</a:t>
                </a:r>
              </a:p>
              <a:p>
                <a:pPr marL="0" indent="0">
                  <a:buNone/>
                </a:pPr>
                <a:endParaRPr lang="en-GB" dirty="0"/>
              </a:p>
            </p:txBody>
          </p:sp>
        </mc:Choice>
        <mc:Fallback xmlns="">
          <p:sp>
            <p:nvSpPr>
              <p:cNvPr id="3" name="Content Placeholder 2">
                <a:extLst>
                  <a:ext uri="{FF2B5EF4-FFF2-40B4-BE49-F238E27FC236}">
                    <a16:creationId xmlns:a16="http://schemas.microsoft.com/office/drawing/2014/main" id="{69930FD3-8643-6371-9A28-9FE35FA87F9A}"/>
                  </a:ext>
                </a:extLst>
              </p:cNvPr>
              <p:cNvSpPr>
                <a:spLocks noGrp="1" noRot="1" noChangeAspect="1" noMove="1" noResize="1" noEditPoints="1" noAdjustHandles="1" noChangeArrowheads="1" noChangeShapeType="1" noTextEdit="1"/>
              </p:cNvSpPr>
              <p:nvPr>
                <p:ph idx="1"/>
              </p:nvPr>
            </p:nvSpPr>
            <p:spPr>
              <a:blipFill>
                <a:blip r:embed="rId3"/>
                <a:stretch>
                  <a:fillRect l="-1217" t="-2381"/>
                </a:stretch>
              </a:blipFill>
            </p:spPr>
            <p:txBody>
              <a:bodyPr/>
              <a:lstStyle/>
              <a:p>
                <a:r>
                  <a:rPr lang="en-GB">
                    <a:noFill/>
                  </a:rPr>
                  <a:t> </a:t>
                </a:r>
              </a:p>
            </p:txBody>
          </p:sp>
        </mc:Fallback>
      </mc:AlternateContent>
    </p:spTree>
    <p:extLst>
      <p:ext uri="{BB962C8B-B14F-4D97-AF65-F5344CB8AC3E}">
        <p14:creationId xmlns:p14="http://schemas.microsoft.com/office/powerpoint/2010/main" val="30507250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C5ACDD9-AFCE-1A56-F850-D5E4A08435D0}"/>
              </a:ext>
            </a:extLst>
          </p:cNvPr>
          <p:cNvSpPr>
            <a:spLocks noGrp="1"/>
          </p:cNvSpPr>
          <p:nvPr>
            <p:ph type="title"/>
          </p:nvPr>
        </p:nvSpPr>
        <p:spPr/>
        <p:txBody>
          <a:bodyPr/>
          <a:lstStyle/>
          <a:p>
            <a:r>
              <a:rPr lang="en-US" dirty="0"/>
              <a:t>3.1</a:t>
            </a:r>
            <a:r>
              <a:rPr lang="en-GB" dirty="0"/>
              <a:t> Base vs policy scenario</a:t>
            </a:r>
            <a:r>
              <a:rPr lang="en-US" dirty="0"/>
              <a:t> </a:t>
            </a:r>
            <a:endParaRPr lang="en-GB" dirty="0"/>
          </a:p>
        </p:txBody>
      </p:sp>
      <p:pic>
        <p:nvPicPr>
          <p:cNvPr id="8" name="Content Placeholder 5">
            <a:extLst>
              <a:ext uri="{FF2B5EF4-FFF2-40B4-BE49-F238E27FC236}">
                <a16:creationId xmlns:a16="http://schemas.microsoft.com/office/drawing/2014/main" id="{BCF6701C-6D51-6785-CEFE-B9A9F1C50E5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8015" y="1825625"/>
            <a:ext cx="5801785" cy="4351338"/>
          </a:xfrm>
          <a:prstGeom prst="rect">
            <a:avLst/>
          </a:prstGeom>
        </p:spPr>
      </p:pic>
      <p:pic>
        <p:nvPicPr>
          <p:cNvPr id="9" name="Picture 8">
            <a:extLst>
              <a:ext uri="{FF2B5EF4-FFF2-40B4-BE49-F238E27FC236}">
                <a16:creationId xmlns:a16="http://schemas.microsoft.com/office/drawing/2014/main" id="{E657A582-5C6B-208C-9DB6-4D212889741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72200" y="1825625"/>
            <a:ext cx="5801784" cy="4351338"/>
          </a:xfrm>
          <a:prstGeom prst="rect">
            <a:avLst/>
          </a:prstGeom>
        </p:spPr>
      </p:pic>
    </p:spTree>
    <p:extLst>
      <p:ext uri="{BB962C8B-B14F-4D97-AF65-F5344CB8AC3E}">
        <p14:creationId xmlns:p14="http://schemas.microsoft.com/office/powerpoint/2010/main" val="10245377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DC312-82BD-3EA0-D909-10C760FAEA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601660-9C9B-278E-FA37-519E1D559479}"/>
              </a:ext>
            </a:extLst>
          </p:cNvPr>
          <p:cNvSpPr>
            <a:spLocks noGrp="1"/>
          </p:cNvSpPr>
          <p:nvPr>
            <p:ph type="title"/>
          </p:nvPr>
        </p:nvSpPr>
        <p:spPr/>
        <p:txBody>
          <a:bodyPr/>
          <a:lstStyle/>
          <a:p>
            <a:r>
              <a:rPr lang="en-US" dirty="0"/>
              <a:t>3.1</a:t>
            </a:r>
            <a:r>
              <a:rPr lang="en-GB" dirty="0"/>
              <a:t> Base vs policy scenario</a:t>
            </a:r>
            <a:r>
              <a:rPr lang="en-US" dirty="0"/>
              <a:t> </a:t>
            </a:r>
            <a:endParaRPr lang="en-GB" dirty="0"/>
          </a:p>
        </p:txBody>
      </p:sp>
      <p:sp>
        <p:nvSpPr>
          <p:cNvPr id="4" name="Text Placeholder 3">
            <a:extLst>
              <a:ext uri="{FF2B5EF4-FFF2-40B4-BE49-F238E27FC236}">
                <a16:creationId xmlns:a16="http://schemas.microsoft.com/office/drawing/2014/main" id="{91B58177-64A8-9DCB-4BFF-CC089120C878}"/>
              </a:ext>
            </a:extLst>
          </p:cNvPr>
          <p:cNvSpPr>
            <a:spLocks noGrp="1"/>
          </p:cNvSpPr>
          <p:nvPr>
            <p:ph type="body" sz="half" idx="2"/>
          </p:nvPr>
        </p:nvSpPr>
        <p:spPr/>
        <p:txBody>
          <a:bodyPr>
            <a:normAutofit/>
          </a:bodyPr>
          <a:lstStyle/>
          <a:p>
            <a:r>
              <a:rPr lang="en-GB" dirty="0"/>
              <a:t>Multimodal accessibility delta (policy – base) has quite a broad distribution meaning car dependant agents are affected to varying degrees. </a:t>
            </a:r>
          </a:p>
          <a:p>
            <a:r>
              <a:rPr lang="en-GB" dirty="0"/>
              <a:t>The large spike at the 0 value due to agent that don’t have car availability (</a:t>
            </a:r>
            <a:r>
              <a:rPr lang="en-GB" dirty="0" err="1"/>
              <a:t>carAvail</a:t>
            </a:r>
            <a:r>
              <a:rPr lang="en-GB" dirty="0"/>
              <a:t> = “never”). Car accessibility is excluded for these agents.</a:t>
            </a:r>
          </a:p>
          <a:p>
            <a:r>
              <a:rPr lang="en-US" b="1" dirty="0"/>
              <a:t>Accessibility impact of the policy is heterogenous and depends on individual attributes and spatial context.</a:t>
            </a:r>
            <a:endParaRPr lang="en-GB" b="1" dirty="0"/>
          </a:p>
          <a:p>
            <a:endParaRPr lang="en-GB" dirty="0"/>
          </a:p>
        </p:txBody>
      </p:sp>
      <p:pic>
        <p:nvPicPr>
          <p:cNvPr id="10" name="Content Placeholder 9">
            <a:extLst>
              <a:ext uri="{FF2B5EF4-FFF2-40B4-BE49-F238E27FC236}">
                <a16:creationId xmlns:a16="http://schemas.microsoft.com/office/drawing/2014/main" id="{D16B7AB2-0844-2D04-7131-4906C570F200}"/>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525587" y="987425"/>
            <a:ext cx="5487402" cy="4873625"/>
          </a:xfrm>
          <a:prstGeom prst="rect">
            <a:avLst/>
          </a:prstGeom>
        </p:spPr>
      </p:pic>
    </p:spTree>
    <p:extLst>
      <p:ext uri="{BB962C8B-B14F-4D97-AF65-F5344CB8AC3E}">
        <p14:creationId xmlns:p14="http://schemas.microsoft.com/office/powerpoint/2010/main" val="36463760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2E715ED-C0C0-1998-CAE4-15C55A6D758A}"/>
              </a:ext>
            </a:extLst>
          </p:cNvPr>
          <p:cNvSpPr>
            <a:spLocks noGrp="1"/>
          </p:cNvSpPr>
          <p:nvPr>
            <p:ph type="title"/>
          </p:nvPr>
        </p:nvSpPr>
        <p:spPr/>
        <p:txBody>
          <a:bodyPr/>
          <a:lstStyle/>
          <a:p>
            <a:r>
              <a:rPr lang="en-US" dirty="0"/>
              <a:t>3.2 Multimodal accessibility by income </a:t>
            </a:r>
            <a:endParaRPr lang="en-GB" dirty="0"/>
          </a:p>
        </p:txBody>
      </p:sp>
      <p:pic>
        <p:nvPicPr>
          <p:cNvPr id="9" name="Content Placeholder 8">
            <a:extLst>
              <a:ext uri="{FF2B5EF4-FFF2-40B4-BE49-F238E27FC236}">
                <a16:creationId xmlns:a16="http://schemas.microsoft.com/office/drawing/2014/main" id="{2BA7D728-1EA4-DAF6-D7E7-FA707C906779}"/>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544670" y="2078408"/>
            <a:ext cx="5768660" cy="3845772"/>
          </a:xfrm>
          <a:prstGeom prst="rect">
            <a:avLst/>
          </a:prstGeom>
        </p:spPr>
      </p:pic>
      <p:pic>
        <p:nvPicPr>
          <p:cNvPr id="12" name="Content Placeholder 11">
            <a:extLst>
              <a:ext uri="{FF2B5EF4-FFF2-40B4-BE49-F238E27FC236}">
                <a16:creationId xmlns:a16="http://schemas.microsoft.com/office/drawing/2014/main" id="{A6422E68-507B-9437-CD91-AB76A93037F1}"/>
              </a:ext>
            </a:extLst>
          </p:cNvPr>
          <p:cNvPicPr>
            <a:picLocks noGrp="1" noChangeAspect="1"/>
          </p:cNvPicPr>
          <p:nvPr>
            <p:ph sz="half" idx="2"/>
          </p:nvPr>
        </p:nvPicPr>
        <p:blipFill>
          <a:blip r:embed="rId4">
            <a:extLst>
              <a:ext uri="{28A0092B-C50C-407E-A947-70E740481C1C}">
                <a14:useLocalDpi xmlns:a14="http://schemas.microsoft.com/office/drawing/2010/main" val="0"/>
              </a:ext>
            </a:extLst>
          </a:blip>
          <a:stretch>
            <a:fillRect/>
          </a:stretch>
        </p:blipFill>
        <p:spPr>
          <a:xfrm>
            <a:off x="6313330" y="1825625"/>
            <a:ext cx="4899339" cy="4351338"/>
          </a:xfrm>
          <a:prstGeom prst="rect">
            <a:avLst/>
          </a:prstGeom>
        </p:spPr>
      </p:pic>
    </p:spTree>
    <p:extLst>
      <p:ext uri="{BB962C8B-B14F-4D97-AF65-F5344CB8AC3E}">
        <p14:creationId xmlns:p14="http://schemas.microsoft.com/office/powerpoint/2010/main" val="21407754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64CF1B-2523-8096-5C08-A72B90FF36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51DC6B-77BC-C90F-6E4B-3D3D8E6D1F88}"/>
              </a:ext>
            </a:extLst>
          </p:cNvPr>
          <p:cNvSpPr>
            <a:spLocks noGrp="1"/>
          </p:cNvSpPr>
          <p:nvPr>
            <p:ph type="title"/>
          </p:nvPr>
        </p:nvSpPr>
        <p:spPr/>
        <p:txBody>
          <a:bodyPr/>
          <a:lstStyle/>
          <a:p>
            <a:r>
              <a:rPr lang="en-US" dirty="0"/>
              <a:t>3.3 Multimodal accessibility by district </a:t>
            </a:r>
            <a:endParaRPr lang="en-GB" dirty="0"/>
          </a:p>
        </p:txBody>
      </p:sp>
      <p:sp>
        <p:nvSpPr>
          <p:cNvPr id="9" name="Text Placeholder 8">
            <a:extLst>
              <a:ext uri="{FF2B5EF4-FFF2-40B4-BE49-F238E27FC236}">
                <a16:creationId xmlns:a16="http://schemas.microsoft.com/office/drawing/2014/main" id="{833858BE-BFCC-C753-EE4D-8707B0977AE5}"/>
              </a:ext>
            </a:extLst>
          </p:cNvPr>
          <p:cNvSpPr>
            <a:spLocks noGrp="1"/>
          </p:cNvSpPr>
          <p:nvPr>
            <p:ph type="body" sz="half" idx="2"/>
          </p:nvPr>
        </p:nvSpPr>
        <p:spPr/>
        <p:txBody>
          <a:bodyPr/>
          <a:lstStyle/>
          <a:p>
            <a:r>
              <a:rPr lang="en-US" dirty="0"/>
              <a:t>Top is a heat map of the agents and their multimodal accessibility in the policy scenario to showcase how policy affects are spatially distributed (exaggerated color gradient).</a:t>
            </a:r>
            <a:endParaRPr lang="en-GB" dirty="0"/>
          </a:p>
          <a:p>
            <a:r>
              <a:rPr lang="en-GB" dirty="0"/>
              <a:t>Bottom is a heatmap of the multimodal accessibility delta (policy – base).</a:t>
            </a:r>
          </a:p>
        </p:txBody>
      </p:sp>
      <p:pic>
        <p:nvPicPr>
          <p:cNvPr id="16" name="Picture 15">
            <a:extLst>
              <a:ext uri="{FF2B5EF4-FFF2-40B4-BE49-F238E27FC236}">
                <a16:creationId xmlns:a16="http://schemas.microsoft.com/office/drawing/2014/main" id="{FABC4C5C-3B1B-60BE-0483-7CA3826889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59200" y="0"/>
            <a:ext cx="5732800" cy="3429000"/>
          </a:xfrm>
          <a:prstGeom prst="rect">
            <a:avLst/>
          </a:prstGeom>
        </p:spPr>
      </p:pic>
      <p:pic>
        <p:nvPicPr>
          <p:cNvPr id="17" name="Picture 16">
            <a:extLst>
              <a:ext uri="{FF2B5EF4-FFF2-40B4-BE49-F238E27FC236}">
                <a16:creationId xmlns:a16="http://schemas.microsoft.com/office/drawing/2014/main" id="{1B49834A-A7B3-ED0E-C465-FC6E363B90B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59200" y="3428999"/>
            <a:ext cx="5732801" cy="3429001"/>
          </a:xfrm>
          <a:prstGeom prst="rect">
            <a:avLst/>
          </a:prstGeom>
        </p:spPr>
      </p:pic>
    </p:spTree>
    <p:extLst>
      <p:ext uri="{BB962C8B-B14F-4D97-AF65-F5344CB8AC3E}">
        <p14:creationId xmlns:p14="http://schemas.microsoft.com/office/powerpoint/2010/main" val="30354031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E39D5F9-B29A-7056-AE70-1FBC73961A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3200" y="0"/>
            <a:ext cx="11465600" cy="6858000"/>
          </a:xfrm>
          <a:prstGeom prst="rect">
            <a:avLst/>
          </a:prstGeom>
        </p:spPr>
      </p:pic>
    </p:spTree>
    <p:extLst>
      <p:ext uri="{BB962C8B-B14F-4D97-AF65-F5344CB8AC3E}">
        <p14:creationId xmlns:p14="http://schemas.microsoft.com/office/powerpoint/2010/main" val="1168957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97DFCC4-CBD0-69A4-6E67-0743B1E498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3200" y="0"/>
            <a:ext cx="11465600" cy="6858000"/>
          </a:xfrm>
          <a:prstGeom prst="rect">
            <a:avLst/>
          </a:prstGeom>
        </p:spPr>
      </p:pic>
    </p:spTree>
    <p:extLst>
      <p:ext uri="{BB962C8B-B14F-4D97-AF65-F5344CB8AC3E}">
        <p14:creationId xmlns:p14="http://schemas.microsoft.com/office/powerpoint/2010/main" val="3187786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CB0F94-2768-B830-69AE-65F74EB925F9}"/>
              </a:ext>
            </a:extLst>
          </p:cNvPr>
          <p:cNvSpPr>
            <a:spLocks noGrp="1"/>
          </p:cNvSpPr>
          <p:nvPr>
            <p:ph type="title"/>
          </p:nvPr>
        </p:nvSpPr>
        <p:spPr/>
        <p:txBody>
          <a:bodyPr/>
          <a:lstStyle/>
          <a:p>
            <a:r>
              <a:rPr lang="en-GB" dirty="0"/>
              <a:t>3.4	Accessibility gains/losses</a:t>
            </a:r>
          </a:p>
        </p:txBody>
      </p:sp>
      <p:pic>
        <p:nvPicPr>
          <p:cNvPr id="6" name="Content Placeholder 5">
            <a:extLst>
              <a:ext uri="{FF2B5EF4-FFF2-40B4-BE49-F238E27FC236}">
                <a16:creationId xmlns:a16="http://schemas.microsoft.com/office/drawing/2014/main" id="{0CB99323-AD86-5D6E-38CC-CF55650419D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525587" y="987425"/>
            <a:ext cx="5487402" cy="4873625"/>
          </a:xfrm>
          <a:prstGeom prst="rect">
            <a:avLst/>
          </a:prstGeom>
        </p:spPr>
      </p:pic>
      <p:sp>
        <p:nvSpPr>
          <p:cNvPr id="4" name="Text Placeholder 3">
            <a:extLst>
              <a:ext uri="{FF2B5EF4-FFF2-40B4-BE49-F238E27FC236}">
                <a16:creationId xmlns:a16="http://schemas.microsoft.com/office/drawing/2014/main" id="{D22A4F5B-30BE-CE49-8694-BAD1479EEB04}"/>
              </a:ext>
            </a:extLst>
          </p:cNvPr>
          <p:cNvSpPr>
            <a:spLocks noGrp="1"/>
          </p:cNvSpPr>
          <p:nvPr>
            <p:ph type="body" sz="half" idx="2"/>
          </p:nvPr>
        </p:nvSpPr>
        <p:spPr/>
        <p:txBody>
          <a:bodyPr/>
          <a:lstStyle/>
          <a:p>
            <a:r>
              <a:rPr lang="en-GB" dirty="0"/>
              <a:t>*issue regarding relation of </a:t>
            </a:r>
            <a:r>
              <a:rPr lang="en-GB" dirty="0" err="1"/>
              <a:t>carAvail</a:t>
            </a:r>
            <a:r>
              <a:rPr lang="en-GB" dirty="0"/>
              <a:t> to income</a:t>
            </a:r>
          </a:p>
          <a:p>
            <a:r>
              <a:rPr lang="en-GB" dirty="0"/>
              <a:t>Share of improved/worsened/no change mirrors the share of </a:t>
            </a:r>
            <a:r>
              <a:rPr lang="en-GB" dirty="0" err="1"/>
              <a:t>carAvail</a:t>
            </a:r>
            <a:r>
              <a:rPr lang="en-GB" dirty="0"/>
              <a:t>. However, </a:t>
            </a:r>
            <a:r>
              <a:rPr lang="en-GB" dirty="0" err="1"/>
              <a:t>carAvail</a:t>
            </a:r>
            <a:r>
              <a:rPr lang="en-GB" dirty="0"/>
              <a:t> share reduces the higher income the agent has (also the case with v6.4)</a:t>
            </a:r>
          </a:p>
          <a:p>
            <a:endParaRPr lang="en-GB" dirty="0"/>
          </a:p>
        </p:txBody>
      </p:sp>
      <p:pic>
        <p:nvPicPr>
          <p:cNvPr id="9" name="Picture 8">
            <a:extLst>
              <a:ext uri="{FF2B5EF4-FFF2-40B4-BE49-F238E27FC236}">
                <a16:creationId xmlns:a16="http://schemas.microsoft.com/office/drawing/2014/main" id="{D3140179-7628-7FE2-06AF-3ED5E10A7EF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614089"/>
            <a:ext cx="3653791" cy="3243911"/>
          </a:xfrm>
          <a:prstGeom prst="rect">
            <a:avLst/>
          </a:prstGeom>
        </p:spPr>
      </p:pic>
    </p:spTree>
    <p:extLst>
      <p:ext uri="{BB962C8B-B14F-4D97-AF65-F5344CB8AC3E}">
        <p14:creationId xmlns:p14="http://schemas.microsoft.com/office/powerpoint/2010/main" val="3421102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9D0A6-2710-4D71-7997-C685619EEF27}"/>
              </a:ext>
            </a:extLst>
          </p:cNvPr>
          <p:cNvSpPr>
            <a:spLocks noGrp="1"/>
          </p:cNvSpPr>
          <p:nvPr>
            <p:ph type="title"/>
          </p:nvPr>
        </p:nvSpPr>
        <p:spPr/>
        <p:txBody>
          <a:bodyPr>
            <a:normAutofit/>
          </a:bodyPr>
          <a:lstStyle/>
          <a:p>
            <a:r>
              <a:rPr lang="en-GB" dirty="0"/>
              <a:t>4.1	Conclusion (preliminary)</a:t>
            </a:r>
          </a:p>
        </p:txBody>
      </p:sp>
      <p:sp>
        <p:nvSpPr>
          <p:cNvPr id="3" name="Content Placeholder 2">
            <a:extLst>
              <a:ext uri="{FF2B5EF4-FFF2-40B4-BE49-F238E27FC236}">
                <a16:creationId xmlns:a16="http://schemas.microsoft.com/office/drawing/2014/main" id="{7608B2D3-A68C-2FC8-5D8D-9AF508015A5C}"/>
              </a:ext>
            </a:extLst>
          </p:cNvPr>
          <p:cNvSpPr>
            <a:spLocks noGrp="1"/>
          </p:cNvSpPr>
          <p:nvPr>
            <p:ph idx="1"/>
          </p:nvPr>
        </p:nvSpPr>
        <p:spPr/>
        <p:txBody>
          <a:bodyPr/>
          <a:lstStyle/>
          <a:p>
            <a:r>
              <a:rPr lang="en-GB" dirty="0"/>
              <a:t>Effects of policy towards accessibility are heterogeneous</a:t>
            </a:r>
          </a:p>
          <a:p>
            <a:r>
              <a:rPr lang="en-GB" dirty="0"/>
              <a:t>Multimodal evaluation changes the interpretation of policy impacts compared to single-mode analysis</a:t>
            </a:r>
          </a:p>
          <a:p>
            <a:r>
              <a:rPr lang="en-GB" dirty="0"/>
              <a:t>Accessibility losses scale with the relative contribution of car to total utility (all modes), not just car availability</a:t>
            </a:r>
          </a:p>
          <a:p>
            <a:r>
              <a:rPr lang="en-GB" dirty="0"/>
              <a:t>Policy affects are also spatially structured (on facilities) and not evenly distributed</a:t>
            </a:r>
          </a:p>
          <a:p>
            <a:endParaRPr lang="en-GB" dirty="0"/>
          </a:p>
        </p:txBody>
      </p:sp>
    </p:spTree>
    <p:extLst>
      <p:ext uri="{BB962C8B-B14F-4D97-AF65-F5344CB8AC3E}">
        <p14:creationId xmlns:p14="http://schemas.microsoft.com/office/powerpoint/2010/main" val="1606660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757AD3-6ABB-F873-37F2-2B1E33E8FFF9}"/>
              </a:ext>
            </a:extLst>
          </p:cNvPr>
          <p:cNvSpPr>
            <a:spLocks noGrp="1"/>
          </p:cNvSpPr>
          <p:nvPr>
            <p:ph type="title"/>
          </p:nvPr>
        </p:nvSpPr>
        <p:spPr/>
        <p:txBody>
          <a:bodyPr>
            <a:normAutofit/>
          </a:bodyPr>
          <a:lstStyle/>
          <a:p>
            <a:r>
              <a:rPr lang="en-GB" dirty="0"/>
              <a:t>4.2	Remaining work and timeline</a:t>
            </a:r>
          </a:p>
        </p:txBody>
      </p:sp>
      <p:sp>
        <p:nvSpPr>
          <p:cNvPr id="3" name="Content Placeholder 2">
            <a:extLst>
              <a:ext uri="{FF2B5EF4-FFF2-40B4-BE49-F238E27FC236}">
                <a16:creationId xmlns:a16="http://schemas.microsoft.com/office/drawing/2014/main" id="{3E29B3C7-16D5-9064-64C4-1614EB8D9948}"/>
              </a:ext>
            </a:extLst>
          </p:cNvPr>
          <p:cNvSpPr>
            <a:spLocks noGrp="1"/>
          </p:cNvSpPr>
          <p:nvPr>
            <p:ph idx="1"/>
          </p:nvPr>
        </p:nvSpPr>
        <p:spPr/>
        <p:txBody>
          <a:bodyPr/>
          <a:lstStyle/>
          <a:p>
            <a:r>
              <a:rPr lang="en-US" dirty="0"/>
              <a:t>Computation in java</a:t>
            </a:r>
          </a:p>
          <a:p>
            <a:pPr lvl="1"/>
            <a:r>
              <a:rPr lang="en-US" dirty="0"/>
              <a:t>Compute using 10% v6.4 files using math clusters (already have account)</a:t>
            </a:r>
          </a:p>
          <a:p>
            <a:pPr lvl="1"/>
            <a:r>
              <a:rPr lang="en-US" dirty="0"/>
              <a:t>Implement actual facilities (hospitals, </a:t>
            </a:r>
            <a:r>
              <a:rPr lang="de-DE" dirty="0"/>
              <a:t>Bürgeramt</a:t>
            </a:r>
            <a:r>
              <a:rPr lang="en-US" dirty="0"/>
              <a:t> etc.)</a:t>
            </a:r>
          </a:p>
          <a:p>
            <a:r>
              <a:rPr lang="en-US" dirty="0"/>
              <a:t>Analysis in R</a:t>
            </a:r>
          </a:p>
          <a:p>
            <a:pPr lvl="1"/>
            <a:r>
              <a:rPr lang="en-US" dirty="0"/>
              <a:t>Clean up scripts (currently spaghetti code)</a:t>
            </a:r>
          </a:p>
          <a:p>
            <a:pPr lvl="1"/>
            <a:r>
              <a:rPr lang="en-US" dirty="0"/>
              <a:t>Add more relevant plots/graphs</a:t>
            </a:r>
          </a:p>
          <a:p>
            <a:pPr lvl="1"/>
            <a:r>
              <a:rPr lang="en-US" dirty="0"/>
              <a:t>More %change data</a:t>
            </a:r>
          </a:p>
          <a:p>
            <a:r>
              <a:rPr lang="en-US" dirty="0"/>
              <a:t>Literature</a:t>
            </a:r>
          </a:p>
          <a:p>
            <a:r>
              <a:rPr lang="en-US" dirty="0"/>
              <a:t>Thesis writing</a:t>
            </a:r>
            <a:endParaRPr lang="en-GB" dirty="0"/>
          </a:p>
          <a:p>
            <a:endParaRPr lang="en-GB" dirty="0"/>
          </a:p>
        </p:txBody>
      </p:sp>
    </p:spTree>
    <p:extLst>
      <p:ext uri="{BB962C8B-B14F-4D97-AF65-F5344CB8AC3E}">
        <p14:creationId xmlns:p14="http://schemas.microsoft.com/office/powerpoint/2010/main" val="3317442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55E48B-E922-5A22-8CB0-A73B17184651}"/>
              </a:ext>
            </a:extLst>
          </p:cNvPr>
          <p:cNvSpPr>
            <a:spLocks noGrp="1"/>
          </p:cNvSpPr>
          <p:nvPr>
            <p:ph type="title"/>
          </p:nvPr>
        </p:nvSpPr>
        <p:spPr/>
        <p:txBody>
          <a:bodyPr/>
          <a:lstStyle/>
          <a:p>
            <a:r>
              <a:rPr lang="en-GB" dirty="0"/>
              <a:t>4.3	Questions</a:t>
            </a:r>
          </a:p>
        </p:txBody>
      </p:sp>
      <p:sp>
        <p:nvSpPr>
          <p:cNvPr id="3" name="Content Placeholder 2">
            <a:extLst>
              <a:ext uri="{FF2B5EF4-FFF2-40B4-BE49-F238E27FC236}">
                <a16:creationId xmlns:a16="http://schemas.microsoft.com/office/drawing/2014/main" id="{98F918D7-177D-EAEE-DBF9-ED189CE7C00E}"/>
              </a:ext>
            </a:extLst>
          </p:cNvPr>
          <p:cNvSpPr>
            <a:spLocks noGrp="1"/>
          </p:cNvSpPr>
          <p:nvPr>
            <p:ph idx="1"/>
          </p:nvPr>
        </p:nvSpPr>
        <p:spPr/>
        <p:txBody>
          <a:bodyPr/>
          <a:lstStyle/>
          <a:p>
            <a:endParaRPr lang="en-GB" dirty="0"/>
          </a:p>
        </p:txBody>
      </p:sp>
    </p:spTree>
    <p:extLst>
      <p:ext uri="{BB962C8B-B14F-4D97-AF65-F5344CB8AC3E}">
        <p14:creationId xmlns:p14="http://schemas.microsoft.com/office/powerpoint/2010/main" val="8557770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E293A1A-C404-AE2B-094B-70C3665CEE73}"/>
              </a:ext>
            </a:extLst>
          </p:cNvPr>
          <p:cNvSpPr>
            <a:spLocks noGrp="1"/>
          </p:cNvSpPr>
          <p:nvPr>
            <p:ph type="title"/>
          </p:nvPr>
        </p:nvSpPr>
        <p:spPr/>
        <p:txBody>
          <a:bodyPr/>
          <a:lstStyle/>
          <a:p>
            <a:endParaRPr lang="en-GB"/>
          </a:p>
        </p:txBody>
      </p:sp>
      <p:sp>
        <p:nvSpPr>
          <p:cNvPr id="5" name="Content Placeholder 4">
            <a:extLst>
              <a:ext uri="{FF2B5EF4-FFF2-40B4-BE49-F238E27FC236}">
                <a16:creationId xmlns:a16="http://schemas.microsoft.com/office/drawing/2014/main" id="{53B065E6-2170-C041-6F9C-BEA80AAA71F5}"/>
              </a:ext>
            </a:extLst>
          </p:cNvPr>
          <p:cNvSpPr>
            <a:spLocks noGrp="1"/>
          </p:cNvSpPr>
          <p:nvPr>
            <p:ph sz="half" idx="1"/>
          </p:nvPr>
        </p:nvSpPr>
        <p:spPr/>
        <p:txBody>
          <a:bodyPr/>
          <a:lstStyle/>
          <a:p>
            <a:r>
              <a:rPr lang="en-US" dirty="0"/>
              <a:t>Why/how agents score improve after </a:t>
            </a:r>
            <a:r>
              <a:rPr lang="en-US" dirty="0" err="1"/>
              <a:t>multimodalAcc</a:t>
            </a:r>
            <a:r>
              <a:rPr lang="en-US" dirty="0"/>
              <a:t> in car free berlin (policy</a:t>
            </a:r>
            <a:r>
              <a:rPr lang="en-US" dirty="0">
                <a:solidFill>
                  <a:schemeClr val="accent6">
                    <a:lumMod val="20000"/>
                    <a:lumOff val="80000"/>
                  </a:schemeClr>
                </a:solidFill>
              </a:rPr>
              <a:t>)?</a:t>
            </a:r>
          </a:p>
          <a:p>
            <a:r>
              <a:rPr lang="en-US" dirty="0">
                <a:highlight>
                  <a:srgbClr val="DBF1D3"/>
                </a:highlight>
              </a:rPr>
              <a:t>Why is there negative relationship between income and mm acc delta despite car avail not income </a:t>
            </a:r>
            <a:r>
              <a:rPr lang="en-US" dirty="0" err="1">
                <a:highlight>
                  <a:srgbClr val="DBF1D3"/>
                </a:highlight>
              </a:rPr>
              <a:t>dependant</a:t>
            </a:r>
            <a:r>
              <a:rPr lang="en-US" dirty="0">
                <a:highlight>
                  <a:srgbClr val="DBF1D3"/>
                </a:highlight>
              </a:rPr>
              <a:t> (from persons file)</a:t>
            </a:r>
          </a:p>
          <a:p>
            <a:r>
              <a:rPr lang="en-GB" dirty="0">
                <a:highlight>
                  <a:srgbClr val="DBF1D3"/>
                </a:highlight>
              </a:rPr>
              <a:t>New </a:t>
            </a:r>
            <a:r>
              <a:rPr lang="en-GB" dirty="0" err="1">
                <a:highlight>
                  <a:srgbClr val="DBF1D3"/>
                </a:highlight>
              </a:rPr>
              <a:t>zwp</a:t>
            </a:r>
            <a:r>
              <a:rPr lang="en-GB" dirty="0">
                <a:highlight>
                  <a:srgbClr val="DBF1D3"/>
                </a:highlight>
              </a:rPr>
              <a:t> file</a:t>
            </a:r>
          </a:p>
          <a:p>
            <a:r>
              <a:rPr lang="en-GB" dirty="0">
                <a:highlight>
                  <a:srgbClr val="DBF1D3"/>
                </a:highlight>
              </a:rPr>
              <a:t>Structure for new </a:t>
            </a:r>
            <a:r>
              <a:rPr lang="en-GB" dirty="0" err="1">
                <a:highlight>
                  <a:srgbClr val="DBF1D3"/>
                </a:highlight>
              </a:rPr>
              <a:t>zwp</a:t>
            </a:r>
            <a:endParaRPr lang="en-GB" dirty="0">
              <a:highlight>
                <a:srgbClr val="DBF1D3"/>
              </a:highlight>
            </a:endParaRPr>
          </a:p>
        </p:txBody>
      </p:sp>
      <p:sp>
        <p:nvSpPr>
          <p:cNvPr id="6" name="Content Placeholder 5">
            <a:extLst>
              <a:ext uri="{FF2B5EF4-FFF2-40B4-BE49-F238E27FC236}">
                <a16:creationId xmlns:a16="http://schemas.microsoft.com/office/drawing/2014/main" id="{8F951F97-8897-BE2B-6726-2369A49AD787}"/>
              </a:ext>
            </a:extLst>
          </p:cNvPr>
          <p:cNvSpPr>
            <a:spLocks noGrp="1"/>
          </p:cNvSpPr>
          <p:nvPr>
            <p:ph sz="half" idx="2"/>
          </p:nvPr>
        </p:nvSpPr>
        <p:spPr/>
        <p:txBody>
          <a:bodyPr/>
          <a:lstStyle/>
          <a:p>
            <a:r>
              <a:rPr lang="en-US" dirty="0"/>
              <a:t>Remove age modifier (for now?)</a:t>
            </a:r>
          </a:p>
          <a:p>
            <a:r>
              <a:rPr lang="en-US" dirty="0"/>
              <a:t>Get new raw outputs</a:t>
            </a:r>
          </a:p>
          <a:p>
            <a:r>
              <a:rPr lang="en-US" dirty="0"/>
              <a:t>Get new </a:t>
            </a:r>
            <a:r>
              <a:rPr lang="en-US" dirty="0" err="1"/>
              <a:t>plots+graphs</a:t>
            </a:r>
            <a:endParaRPr lang="en-US" dirty="0"/>
          </a:p>
          <a:p>
            <a:r>
              <a:rPr lang="en-US" dirty="0"/>
              <a:t>Map heat </a:t>
            </a:r>
            <a:r>
              <a:rPr lang="en-US" dirty="0" err="1"/>
              <a:t>maps+plots</a:t>
            </a:r>
            <a:endParaRPr lang="en-US" dirty="0"/>
          </a:p>
          <a:p>
            <a:r>
              <a:rPr lang="en-US" dirty="0"/>
              <a:t>Map of facilities in berlin (+agent </a:t>
            </a:r>
            <a:r>
              <a:rPr lang="en-US" dirty="0" err="1"/>
              <a:t>denisity</a:t>
            </a:r>
            <a:r>
              <a:rPr lang="en-US" dirty="0"/>
              <a:t>)</a:t>
            </a:r>
          </a:p>
          <a:p>
            <a:r>
              <a:rPr lang="en-US" dirty="0"/>
              <a:t>Words in </a:t>
            </a:r>
            <a:r>
              <a:rPr lang="en-US" dirty="0" err="1"/>
              <a:t>slidezzzz</a:t>
            </a:r>
            <a:endParaRPr lang="en-US" dirty="0"/>
          </a:p>
          <a:p>
            <a:endParaRPr lang="en-GB" dirty="0"/>
          </a:p>
        </p:txBody>
      </p:sp>
    </p:spTree>
    <p:extLst>
      <p:ext uri="{BB962C8B-B14F-4D97-AF65-F5344CB8AC3E}">
        <p14:creationId xmlns:p14="http://schemas.microsoft.com/office/powerpoint/2010/main" val="29515092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8DEDFDB-872C-D751-92BC-26C554D304BE}"/>
              </a:ext>
            </a:extLst>
          </p:cNvPr>
          <p:cNvSpPr>
            <a:spLocks noGrp="1"/>
          </p:cNvSpPr>
          <p:nvPr>
            <p:ph type="title"/>
          </p:nvPr>
        </p:nvSpPr>
        <p:spPr/>
        <p:txBody>
          <a:bodyPr>
            <a:noAutofit/>
          </a:bodyPr>
          <a:lstStyle/>
          <a:p>
            <a:r>
              <a:rPr lang="en-US" sz="2800" dirty="0"/>
              <a:t>Why is there negative relationship between income and mm acc delta despite car avail not income </a:t>
            </a:r>
            <a:r>
              <a:rPr lang="en-US" sz="2800" dirty="0" err="1"/>
              <a:t>dependant</a:t>
            </a:r>
            <a:r>
              <a:rPr lang="en-US" sz="2800" dirty="0"/>
              <a:t> (from persons file)</a:t>
            </a:r>
            <a:br>
              <a:rPr lang="en-US" sz="2800" dirty="0"/>
            </a:br>
            <a:endParaRPr lang="en-GB" sz="2800" dirty="0"/>
          </a:p>
        </p:txBody>
      </p:sp>
      <p:sp>
        <p:nvSpPr>
          <p:cNvPr id="6" name="Content Placeholder 5">
            <a:extLst>
              <a:ext uri="{FF2B5EF4-FFF2-40B4-BE49-F238E27FC236}">
                <a16:creationId xmlns:a16="http://schemas.microsoft.com/office/drawing/2014/main" id="{D36677B3-AF3C-4604-C512-C26265FE0CEE}"/>
              </a:ext>
            </a:extLst>
          </p:cNvPr>
          <p:cNvSpPr>
            <a:spLocks noGrp="1"/>
          </p:cNvSpPr>
          <p:nvPr>
            <p:ph idx="1"/>
          </p:nvPr>
        </p:nvSpPr>
        <p:spPr/>
        <p:txBody>
          <a:bodyPr>
            <a:normAutofit fontScale="92500" lnSpcReduction="10000"/>
          </a:bodyPr>
          <a:lstStyle/>
          <a:p>
            <a:r>
              <a:rPr lang="en-US" dirty="0"/>
              <a:t>Make table to show all the values grouped by </a:t>
            </a:r>
            <a:r>
              <a:rPr lang="en-US" dirty="0" err="1"/>
              <a:t>incomebins</a:t>
            </a:r>
            <a:endParaRPr lang="en-US" dirty="0"/>
          </a:p>
          <a:p>
            <a:r>
              <a:rPr lang="en-US" dirty="0"/>
              <a:t>Add </a:t>
            </a:r>
            <a:r>
              <a:rPr lang="en-US" dirty="0" err="1"/>
              <a:t>expSum</a:t>
            </a:r>
            <a:r>
              <a:rPr lang="en-US" dirty="0"/>
              <a:t> (</a:t>
            </a:r>
            <a:r>
              <a:rPr lang="en-US" dirty="0" err="1"/>
              <a:t>twalk</a:t>
            </a:r>
            <a:r>
              <a:rPr lang="en-US" dirty="0"/>
              <a:t>, pt, </a:t>
            </a:r>
            <a:r>
              <a:rPr lang="en-US" dirty="0" err="1"/>
              <a:t>car_base</a:t>
            </a:r>
            <a:r>
              <a:rPr lang="en-US" dirty="0"/>
              <a:t>, </a:t>
            </a:r>
            <a:r>
              <a:rPr lang="en-US" dirty="0" err="1"/>
              <a:t>car_policy</a:t>
            </a:r>
            <a:r>
              <a:rPr lang="en-US" dirty="0"/>
              <a:t>) + </a:t>
            </a:r>
            <a:r>
              <a:rPr lang="en-US" dirty="0" err="1"/>
              <a:t>mm_logSum</a:t>
            </a:r>
            <a:r>
              <a:rPr lang="en-US" dirty="0"/>
              <a:t> (base, policy, delta), car (</a:t>
            </a:r>
            <a:r>
              <a:rPr lang="en-US" dirty="0" err="1"/>
              <a:t>logSum_base</a:t>
            </a:r>
            <a:r>
              <a:rPr lang="en-US" dirty="0"/>
              <a:t>, </a:t>
            </a:r>
            <a:r>
              <a:rPr lang="en-US" dirty="0" err="1"/>
              <a:t>logSum_policy</a:t>
            </a:r>
            <a:r>
              <a:rPr lang="en-US" dirty="0"/>
              <a:t>, </a:t>
            </a:r>
            <a:r>
              <a:rPr lang="en-US" dirty="0" err="1"/>
              <a:t>car_delta</a:t>
            </a:r>
            <a:r>
              <a:rPr lang="en-US" dirty="0"/>
              <a:t>)</a:t>
            </a:r>
          </a:p>
          <a:p>
            <a:r>
              <a:rPr lang="en-US" dirty="0"/>
              <a:t>%delta as well + colored cells</a:t>
            </a:r>
          </a:p>
          <a:p>
            <a:r>
              <a:rPr lang="en-GB" dirty="0"/>
              <a:t>Even if low income groups  have more </a:t>
            </a:r>
            <a:r>
              <a:rPr lang="en-GB" dirty="0" err="1"/>
              <a:t>carAvail</a:t>
            </a:r>
            <a:r>
              <a:rPr lang="en-GB" dirty="0"/>
              <a:t> (as per persons file), and that car utility (</a:t>
            </a:r>
            <a:r>
              <a:rPr lang="en-GB" dirty="0" err="1"/>
              <a:t>expSum_car</a:t>
            </a:r>
            <a:r>
              <a:rPr lang="en-GB" dirty="0"/>
              <a:t>) is penalized more (because of income factor) and therefore smaller.</a:t>
            </a:r>
          </a:p>
          <a:p>
            <a:r>
              <a:rPr lang="en-GB" dirty="0"/>
              <a:t>Why do high income groups experience big </a:t>
            </a:r>
            <a:r>
              <a:rPr lang="en-GB" dirty="0" err="1"/>
              <a:t>mm_acc</a:t>
            </a:r>
            <a:r>
              <a:rPr lang="en-GB" dirty="0"/>
              <a:t> loss?</a:t>
            </a:r>
          </a:p>
          <a:p>
            <a:r>
              <a:rPr lang="en-GB" dirty="0"/>
              <a:t>They experience big </a:t>
            </a:r>
            <a:r>
              <a:rPr lang="en-GB" dirty="0" err="1"/>
              <a:t>mm_acc</a:t>
            </a:r>
            <a:r>
              <a:rPr lang="en-GB" dirty="0"/>
              <a:t> loss due to </a:t>
            </a:r>
            <a:r>
              <a:rPr lang="en-GB" dirty="0" err="1"/>
              <a:t>incomeFactor</a:t>
            </a:r>
            <a:r>
              <a:rPr lang="en-GB" dirty="0"/>
              <a:t>. Their </a:t>
            </a:r>
            <a:r>
              <a:rPr lang="en-GB" dirty="0" err="1"/>
              <a:t>logSum</a:t>
            </a:r>
            <a:r>
              <a:rPr lang="en-GB" dirty="0"/>
              <a:t> scores in the base scenario are heavily influenced by their high scoring car utility (because of </a:t>
            </a:r>
            <a:r>
              <a:rPr lang="en-GB" dirty="0" err="1"/>
              <a:t>incomefactor</a:t>
            </a:r>
            <a:r>
              <a:rPr lang="en-GB" dirty="0"/>
              <a:t>). </a:t>
            </a:r>
          </a:p>
        </p:txBody>
      </p:sp>
    </p:spTree>
    <p:extLst>
      <p:ext uri="{BB962C8B-B14F-4D97-AF65-F5344CB8AC3E}">
        <p14:creationId xmlns:p14="http://schemas.microsoft.com/office/powerpoint/2010/main" val="31004924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08334A-8EA1-3730-64DA-795222D5451C}"/>
              </a:ext>
            </a:extLst>
          </p:cNvPr>
          <p:cNvSpPr>
            <a:spLocks noGrp="1"/>
          </p:cNvSpPr>
          <p:nvPr>
            <p:ph type="title"/>
          </p:nvPr>
        </p:nvSpPr>
        <p:spPr/>
        <p:txBody>
          <a:bodyPr>
            <a:normAutofit fontScale="90000"/>
          </a:bodyPr>
          <a:lstStyle/>
          <a:p>
            <a:r>
              <a:rPr lang="en-US" dirty="0"/>
              <a:t>Why/how agents score improve after </a:t>
            </a:r>
            <a:r>
              <a:rPr lang="en-US" dirty="0" err="1"/>
              <a:t>multimodalAcc</a:t>
            </a:r>
            <a:r>
              <a:rPr lang="en-US" dirty="0"/>
              <a:t> in car free berlin (policy)?</a:t>
            </a:r>
            <a:br>
              <a:rPr lang="en-US" dirty="0"/>
            </a:br>
            <a:endParaRPr lang="en-GB" dirty="0"/>
          </a:p>
        </p:txBody>
      </p:sp>
      <p:sp>
        <p:nvSpPr>
          <p:cNvPr id="3" name="Content Placeholder 2">
            <a:extLst>
              <a:ext uri="{FF2B5EF4-FFF2-40B4-BE49-F238E27FC236}">
                <a16:creationId xmlns:a16="http://schemas.microsoft.com/office/drawing/2014/main" id="{BE584EE7-6080-F52B-033B-0208FC012CD1}"/>
              </a:ext>
            </a:extLst>
          </p:cNvPr>
          <p:cNvSpPr>
            <a:spLocks noGrp="1"/>
          </p:cNvSpPr>
          <p:nvPr>
            <p:ph idx="1"/>
          </p:nvPr>
        </p:nvSpPr>
        <p:spPr/>
        <p:txBody>
          <a:bodyPr>
            <a:normAutofit fontScale="92500"/>
          </a:bodyPr>
          <a:lstStyle/>
          <a:p>
            <a:r>
              <a:rPr lang="en-US" dirty="0"/>
              <a:t>Take all improved scores</a:t>
            </a:r>
          </a:p>
          <a:p>
            <a:r>
              <a:rPr lang="en-US" dirty="0"/>
              <a:t>Only thing that can improve is car</a:t>
            </a:r>
          </a:p>
          <a:p>
            <a:r>
              <a:rPr lang="en-US" dirty="0"/>
              <a:t>See spatially where they are located</a:t>
            </a:r>
          </a:p>
          <a:p>
            <a:endParaRPr lang="en-US" dirty="0"/>
          </a:p>
          <a:p>
            <a:r>
              <a:rPr lang="en-US" dirty="0"/>
              <a:t>Extract the individual facilities and see where they get very high score</a:t>
            </a:r>
          </a:p>
          <a:p>
            <a:r>
              <a:rPr lang="en-US" dirty="0"/>
              <a:t>Have to see before vs after for all facilities, so manually extract them(?)</a:t>
            </a:r>
          </a:p>
          <a:p>
            <a:endParaRPr lang="en-US" dirty="0"/>
          </a:p>
          <a:p>
            <a:r>
              <a:rPr lang="en-US" dirty="0"/>
              <a:t>Lastly, for simpler is to just check with less facilities, and all of them inside ring for </a:t>
            </a:r>
            <a:r>
              <a:rPr lang="en-US"/>
              <a:t>result consistency</a:t>
            </a:r>
            <a:endParaRPr lang="en-GB" dirty="0"/>
          </a:p>
        </p:txBody>
      </p:sp>
    </p:spTree>
    <p:extLst>
      <p:ext uri="{BB962C8B-B14F-4D97-AF65-F5344CB8AC3E}">
        <p14:creationId xmlns:p14="http://schemas.microsoft.com/office/powerpoint/2010/main" val="2412855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DCEAF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5CB6A-CF6C-882F-FD0D-187974DDA70F}"/>
              </a:ext>
            </a:extLst>
          </p:cNvPr>
          <p:cNvSpPr>
            <a:spLocks noGrp="1"/>
          </p:cNvSpPr>
          <p:nvPr>
            <p:ph type="title"/>
          </p:nvPr>
        </p:nvSpPr>
        <p:spPr/>
        <p:txBody>
          <a:bodyPr/>
          <a:lstStyle/>
          <a:p>
            <a:r>
              <a:rPr lang="en-US" dirty="0"/>
              <a:t>R</a:t>
            </a:r>
            <a:endParaRPr lang="en-GB" dirty="0"/>
          </a:p>
        </p:txBody>
      </p:sp>
      <p:sp>
        <p:nvSpPr>
          <p:cNvPr id="3" name="Content Placeholder 2">
            <a:extLst>
              <a:ext uri="{FF2B5EF4-FFF2-40B4-BE49-F238E27FC236}">
                <a16:creationId xmlns:a16="http://schemas.microsoft.com/office/drawing/2014/main" id="{AD597DD2-D7FA-1ACC-891E-B0CD043C6073}"/>
              </a:ext>
            </a:extLst>
          </p:cNvPr>
          <p:cNvSpPr>
            <a:spLocks noGrp="1"/>
          </p:cNvSpPr>
          <p:nvPr>
            <p:ph idx="1"/>
          </p:nvPr>
        </p:nvSpPr>
        <p:spPr/>
        <p:txBody>
          <a:bodyPr>
            <a:normAutofit fontScale="62500" lnSpcReduction="20000"/>
          </a:bodyPr>
          <a:lstStyle/>
          <a:p>
            <a:r>
              <a:rPr lang="en-US" dirty="0">
                <a:highlight>
                  <a:srgbClr val="DBF1D3"/>
                </a:highlight>
              </a:rPr>
              <a:t>Population distribution (income, district)</a:t>
            </a:r>
          </a:p>
          <a:p>
            <a:r>
              <a:rPr lang="en-US" dirty="0" err="1">
                <a:highlight>
                  <a:srgbClr val="DBF1D3"/>
                </a:highlight>
              </a:rPr>
              <a:t>tWalk_accessibility</a:t>
            </a:r>
            <a:r>
              <a:rPr lang="en-US" dirty="0">
                <a:highlight>
                  <a:srgbClr val="DBF1D3"/>
                </a:highlight>
              </a:rPr>
              <a:t> histogram</a:t>
            </a:r>
          </a:p>
          <a:p>
            <a:r>
              <a:rPr lang="en-US" dirty="0" err="1">
                <a:highlight>
                  <a:srgbClr val="DBF1D3"/>
                </a:highlight>
              </a:rPr>
              <a:t>Pt_accessibility</a:t>
            </a:r>
            <a:r>
              <a:rPr lang="en-US" dirty="0">
                <a:highlight>
                  <a:srgbClr val="DBF1D3"/>
                </a:highlight>
              </a:rPr>
              <a:t> histogram</a:t>
            </a:r>
          </a:p>
          <a:p>
            <a:r>
              <a:rPr lang="en-GB" dirty="0">
                <a:highlight>
                  <a:srgbClr val="DCEAF7"/>
                </a:highlight>
              </a:rPr>
              <a:t>income effects on </a:t>
            </a:r>
            <a:r>
              <a:rPr lang="en-GB" dirty="0" err="1">
                <a:highlight>
                  <a:srgbClr val="DCEAF7"/>
                </a:highlight>
              </a:rPr>
              <a:t>car_accessibility</a:t>
            </a:r>
            <a:r>
              <a:rPr lang="en-GB" dirty="0">
                <a:highlight>
                  <a:srgbClr val="DCEAF7"/>
                </a:highlight>
              </a:rPr>
              <a:t> plot</a:t>
            </a:r>
            <a:r>
              <a:rPr lang="en-US" dirty="0">
                <a:highlight>
                  <a:srgbClr val="DCEAF7"/>
                </a:highlight>
              </a:rPr>
              <a:t>☑️</a:t>
            </a:r>
            <a:endParaRPr lang="en-GB" dirty="0">
              <a:highlight>
                <a:srgbClr val="DCEAF7"/>
              </a:highlight>
            </a:endParaRPr>
          </a:p>
          <a:p>
            <a:r>
              <a:rPr lang="en-GB" dirty="0" err="1">
                <a:highlight>
                  <a:srgbClr val="DCEAF7"/>
                </a:highlight>
              </a:rPr>
              <a:t>carAvail</a:t>
            </a:r>
            <a:r>
              <a:rPr lang="en-GB" dirty="0">
                <a:highlight>
                  <a:srgbClr val="DCEAF7"/>
                </a:highlight>
              </a:rPr>
              <a:t> effects on </a:t>
            </a:r>
            <a:r>
              <a:rPr lang="en-GB" dirty="0" err="1">
                <a:highlight>
                  <a:srgbClr val="DCEAF7"/>
                </a:highlight>
              </a:rPr>
              <a:t>car_accessibility</a:t>
            </a:r>
            <a:r>
              <a:rPr lang="en-GB" dirty="0">
                <a:highlight>
                  <a:srgbClr val="DCEAF7"/>
                </a:highlight>
              </a:rPr>
              <a:t> plot</a:t>
            </a:r>
          </a:p>
          <a:p>
            <a:r>
              <a:rPr lang="en-US" dirty="0" err="1">
                <a:highlight>
                  <a:srgbClr val="DBF1D3"/>
                </a:highlight>
              </a:rPr>
              <a:t>mmAcc</a:t>
            </a:r>
            <a:r>
              <a:rPr lang="en-US" dirty="0">
                <a:highlight>
                  <a:srgbClr val="DBF1D3"/>
                </a:highlight>
              </a:rPr>
              <a:t> (</a:t>
            </a:r>
            <a:r>
              <a:rPr lang="en-US" dirty="0" err="1">
                <a:highlight>
                  <a:srgbClr val="DBF1D3"/>
                </a:highlight>
              </a:rPr>
              <a:t>base+policy</a:t>
            </a:r>
            <a:r>
              <a:rPr lang="en-US" dirty="0">
                <a:highlight>
                  <a:srgbClr val="DBF1D3"/>
                </a:highlight>
              </a:rPr>
              <a:t> overlap) histogram</a:t>
            </a:r>
          </a:p>
          <a:p>
            <a:r>
              <a:rPr lang="en-US" dirty="0" err="1">
                <a:highlight>
                  <a:srgbClr val="DBF1D3"/>
                </a:highlight>
              </a:rPr>
              <a:t>Mm_delta</a:t>
            </a:r>
            <a:r>
              <a:rPr lang="en-US" dirty="0">
                <a:highlight>
                  <a:srgbClr val="DBF1D3"/>
                </a:highlight>
              </a:rPr>
              <a:t> histogram☑️</a:t>
            </a:r>
          </a:p>
          <a:p>
            <a:r>
              <a:rPr lang="en-US" dirty="0">
                <a:highlight>
                  <a:srgbClr val="DCEAF7"/>
                </a:highlight>
              </a:rPr>
              <a:t>Table of values</a:t>
            </a:r>
            <a:r>
              <a:rPr lang="en-US" dirty="0"/>
              <a:t>☑️</a:t>
            </a:r>
          </a:p>
          <a:p>
            <a:r>
              <a:rPr lang="en-US" dirty="0" err="1"/>
              <a:t>Mm_acc</a:t>
            </a:r>
            <a:r>
              <a:rPr lang="en-US" dirty="0"/>
              <a:t> by income bar graph</a:t>
            </a:r>
          </a:p>
          <a:p>
            <a:r>
              <a:rPr lang="en-US" dirty="0" err="1">
                <a:highlight>
                  <a:srgbClr val="DBF1D3"/>
                </a:highlight>
              </a:rPr>
              <a:t>mm_delta</a:t>
            </a:r>
            <a:r>
              <a:rPr lang="en-US" dirty="0">
                <a:highlight>
                  <a:srgbClr val="DBF1D3"/>
                </a:highlight>
              </a:rPr>
              <a:t> by income boxplot☑️</a:t>
            </a:r>
          </a:p>
          <a:p>
            <a:r>
              <a:rPr lang="en-US" dirty="0" err="1">
                <a:highlight>
                  <a:srgbClr val="DCEAF7"/>
                </a:highlight>
              </a:rPr>
              <a:t>Mm_acc</a:t>
            </a:r>
            <a:r>
              <a:rPr lang="en-US" dirty="0">
                <a:highlight>
                  <a:srgbClr val="DCEAF7"/>
                </a:highlight>
              </a:rPr>
              <a:t> by district bar graph</a:t>
            </a:r>
            <a:endParaRPr lang="en-US" dirty="0"/>
          </a:p>
          <a:p>
            <a:r>
              <a:rPr lang="en-US" dirty="0" err="1">
                <a:highlight>
                  <a:srgbClr val="DBF1D3"/>
                </a:highlight>
              </a:rPr>
              <a:t>Mm_delta</a:t>
            </a:r>
            <a:r>
              <a:rPr lang="en-US" dirty="0">
                <a:highlight>
                  <a:srgbClr val="DBF1D3"/>
                </a:highlight>
              </a:rPr>
              <a:t> by district boxplot☑️</a:t>
            </a:r>
          </a:p>
          <a:p>
            <a:r>
              <a:rPr lang="en-US" dirty="0">
                <a:highlight>
                  <a:srgbClr val="DBF1D3"/>
                </a:highlight>
              </a:rPr>
              <a:t>Improves/worsened/</a:t>
            </a:r>
            <a:r>
              <a:rPr lang="en-US" dirty="0" err="1">
                <a:highlight>
                  <a:srgbClr val="DBF1D3"/>
                </a:highlight>
              </a:rPr>
              <a:t>nochange</a:t>
            </a:r>
            <a:r>
              <a:rPr lang="en-US" dirty="0">
                <a:highlight>
                  <a:srgbClr val="DBF1D3"/>
                </a:highlight>
              </a:rPr>
              <a:t> % bar graph (by income, age, district, car avail) ☑️</a:t>
            </a:r>
          </a:p>
          <a:p>
            <a:endParaRPr lang="en-US" dirty="0">
              <a:highlight>
                <a:srgbClr val="DCEAF7"/>
              </a:highlight>
            </a:endParaRPr>
          </a:p>
          <a:p>
            <a:endParaRPr lang="en-US" dirty="0">
              <a:highlight>
                <a:srgbClr val="DCEAF7"/>
              </a:highlight>
            </a:endParaRPr>
          </a:p>
          <a:p>
            <a:endParaRPr lang="en-US" dirty="0">
              <a:highlight>
                <a:srgbClr val="DCEAF7"/>
              </a:highlight>
            </a:endParaRPr>
          </a:p>
          <a:p>
            <a:endParaRPr lang="en-US" dirty="0">
              <a:highlight>
                <a:srgbClr val="DCEAF7"/>
              </a:highlight>
            </a:endParaRPr>
          </a:p>
          <a:p>
            <a:endParaRPr lang="en-US" dirty="0">
              <a:highlight>
                <a:srgbClr val="DCEAF7"/>
              </a:highlight>
            </a:endParaRPr>
          </a:p>
          <a:p>
            <a:endParaRPr lang="en-US" dirty="0">
              <a:highlight>
                <a:srgbClr val="DCEAF7"/>
              </a:highlight>
            </a:endParaRPr>
          </a:p>
          <a:p>
            <a:endParaRPr lang="en-US" dirty="0">
              <a:highlight>
                <a:srgbClr val="DCEAF7"/>
              </a:highlight>
            </a:endParaRPr>
          </a:p>
          <a:p>
            <a:endParaRPr lang="en-US" dirty="0">
              <a:highlight>
                <a:srgbClr val="DCEAF7"/>
              </a:highlight>
            </a:endParaRPr>
          </a:p>
          <a:p>
            <a:endParaRPr lang="en-US" dirty="0"/>
          </a:p>
          <a:p>
            <a:endParaRPr lang="en-GB" dirty="0"/>
          </a:p>
        </p:txBody>
      </p:sp>
    </p:spTree>
    <p:extLst>
      <p:ext uri="{BB962C8B-B14F-4D97-AF65-F5344CB8AC3E}">
        <p14:creationId xmlns:p14="http://schemas.microsoft.com/office/powerpoint/2010/main" val="25055193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DBF1D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BA8999-6FB5-6FD5-FAAE-E5FFC4095F18}"/>
              </a:ext>
            </a:extLst>
          </p:cNvPr>
          <p:cNvSpPr>
            <a:spLocks noGrp="1"/>
          </p:cNvSpPr>
          <p:nvPr>
            <p:ph type="title"/>
          </p:nvPr>
        </p:nvSpPr>
        <p:spPr/>
        <p:txBody>
          <a:bodyPr/>
          <a:lstStyle/>
          <a:p>
            <a:r>
              <a:rPr lang="en-US" dirty="0"/>
              <a:t>QGIS</a:t>
            </a:r>
            <a:endParaRPr lang="en-GB" dirty="0"/>
          </a:p>
        </p:txBody>
      </p:sp>
      <p:sp>
        <p:nvSpPr>
          <p:cNvPr id="3" name="Content Placeholder 2">
            <a:extLst>
              <a:ext uri="{FF2B5EF4-FFF2-40B4-BE49-F238E27FC236}">
                <a16:creationId xmlns:a16="http://schemas.microsoft.com/office/drawing/2014/main" id="{12078D28-FEA0-D16B-3A58-15312D62E45A}"/>
              </a:ext>
            </a:extLst>
          </p:cNvPr>
          <p:cNvSpPr>
            <a:spLocks noGrp="1"/>
          </p:cNvSpPr>
          <p:nvPr>
            <p:ph idx="1"/>
          </p:nvPr>
        </p:nvSpPr>
        <p:spPr/>
        <p:txBody>
          <a:bodyPr/>
          <a:lstStyle/>
          <a:p>
            <a:r>
              <a:rPr lang="en-GB" dirty="0">
                <a:highlight>
                  <a:srgbClr val="DBF1D3"/>
                </a:highlight>
              </a:rPr>
              <a:t>Accessibility heatmap</a:t>
            </a:r>
            <a:endParaRPr lang="en-US" dirty="0">
              <a:highlight>
                <a:srgbClr val="DBF1D3"/>
              </a:highlight>
            </a:endParaRPr>
          </a:p>
          <a:p>
            <a:r>
              <a:rPr lang="en-US" dirty="0">
                <a:highlight>
                  <a:srgbClr val="DBF1D3"/>
                </a:highlight>
              </a:rPr>
              <a:t>Map of facilities</a:t>
            </a:r>
          </a:p>
          <a:p>
            <a:r>
              <a:rPr lang="en-US" dirty="0" err="1">
                <a:highlight>
                  <a:srgbClr val="DBF1D3"/>
                </a:highlight>
              </a:rPr>
              <a:t>Mm_acc</a:t>
            </a:r>
            <a:r>
              <a:rPr lang="en-US" dirty="0">
                <a:highlight>
                  <a:srgbClr val="DBF1D3"/>
                </a:highlight>
              </a:rPr>
              <a:t> by district</a:t>
            </a:r>
          </a:p>
          <a:p>
            <a:r>
              <a:rPr lang="en-US" dirty="0">
                <a:highlight>
                  <a:srgbClr val="DBF1D3"/>
                </a:highlight>
              </a:rPr>
              <a:t>Map </a:t>
            </a:r>
            <a:r>
              <a:rPr lang="el-GR" dirty="0">
                <a:highlight>
                  <a:srgbClr val="DBF1D3"/>
                </a:highlight>
              </a:rPr>
              <a:t>Δ</a:t>
            </a:r>
            <a:r>
              <a:rPr lang="en-US" dirty="0">
                <a:highlight>
                  <a:srgbClr val="DBF1D3"/>
                </a:highlight>
              </a:rPr>
              <a:t> by district</a:t>
            </a:r>
          </a:p>
          <a:p>
            <a:endParaRPr lang="en-US" dirty="0">
              <a:highlight>
                <a:srgbClr val="DBF1D3"/>
              </a:highlight>
            </a:endParaRPr>
          </a:p>
          <a:p>
            <a:endParaRPr lang="en-US" dirty="0">
              <a:highlight>
                <a:srgbClr val="DBF1D3"/>
              </a:highlight>
            </a:endParaRPr>
          </a:p>
          <a:p>
            <a:endParaRPr lang="en-GB" dirty="0"/>
          </a:p>
        </p:txBody>
      </p:sp>
    </p:spTree>
    <p:extLst>
      <p:ext uri="{BB962C8B-B14F-4D97-AF65-F5344CB8AC3E}">
        <p14:creationId xmlns:p14="http://schemas.microsoft.com/office/powerpoint/2010/main" val="17400731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BFCC5A4-48CD-D738-1CA4-5C3BD0838939}"/>
              </a:ext>
            </a:extLst>
          </p:cNvPr>
          <p:cNvSpPr>
            <a:spLocks noGrp="1"/>
          </p:cNvSpPr>
          <p:nvPr>
            <p:ph type="title"/>
          </p:nvPr>
        </p:nvSpPr>
        <p:spPr/>
        <p:txBody>
          <a:bodyPr/>
          <a:lstStyle/>
          <a:p>
            <a:r>
              <a:rPr lang="en-US" dirty="0"/>
              <a:t>Population distribution</a:t>
            </a:r>
            <a:endParaRPr lang="en-GB" dirty="0"/>
          </a:p>
        </p:txBody>
      </p:sp>
      <p:pic>
        <p:nvPicPr>
          <p:cNvPr id="16" name="Content Placeholder 15">
            <a:extLst>
              <a:ext uri="{FF2B5EF4-FFF2-40B4-BE49-F238E27FC236}">
                <a16:creationId xmlns:a16="http://schemas.microsoft.com/office/drawing/2014/main" id="{A0103B39-8F1C-7407-E5DD-6FE10349A28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183188" y="1109663"/>
            <a:ext cx="6172200" cy="4629149"/>
          </a:xfrm>
          <a:prstGeom prst="rect">
            <a:avLst/>
          </a:prstGeom>
        </p:spPr>
      </p:pic>
      <p:sp>
        <p:nvSpPr>
          <p:cNvPr id="7" name="Text Placeholder 6">
            <a:extLst>
              <a:ext uri="{FF2B5EF4-FFF2-40B4-BE49-F238E27FC236}">
                <a16:creationId xmlns:a16="http://schemas.microsoft.com/office/drawing/2014/main" id="{90477A62-30CE-D68C-DBA0-F713B5A8E5BB}"/>
              </a:ext>
            </a:extLst>
          </p:cNvPr>
          <p:cNvSpPr>
            <a:spLocks noGrp="1"/>
          </p:cNvSpPr>
          <p:nvPr>
            <p:ph type="body" sz="half" idx="2"/>
          </p:nvPr>
        </p:nvSpPr>
        <p:spPr/>
        <p:txBody>
          <a:bodyPr/>
          <a:lstStyle/>
          <a:p>
            <a:r>
              <a:rPr lang="en-US" dirty="0"/>
              <a:t>Table shows distribution of the population by income from the v6.3 1% files.</a:t>
            </a:r>
          </a:p>
          <a:p>
            <a:r>
              <a:rPr lang="en-US" dirty="0"/>
              <a:t>Switch over to using v6.4 10% files is already in the pipeline.</a:t>
            </a:r>
          </a:p>
          <a:p>
            <a:endParaRPr lang="en-US" dirty="0">
              <a:highlight>
                <a:srgbClr val="DCEAF7"/>
              </a:highlight>
            </a:endParaRPr>
          </a:p>
        </p:txBody>
      </p:sp>
    </p:spTree>
    <p:extLst>
      <p:ext uri="{BB962C8B-B14F-4D97-AF65-F5344CB8AC3E}">
        <p14:creationId xmlns:p14="http://schemas.microsoft.com/office/powerpoint/2010/main" val="17160784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240771-61EE-9D9E-9594-4739289C507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EDC1F1B-8009-B9CF-66D6-186B24802678}"/>
              </a:ext>
            </a:extLst>
          </p:cNvPr>
          <p:cNvSpPr>
            <a:spLocks noGrp="1"/>
          </p:cNvSpPr>
          <p:nvPr>
            <p:ph type="title"/>
          </p:nvPr>
        </p:nvSpPr>
        <p:spPr/>
        <p:txBody>
          <a:bodyPr/>
          <a:lstStyle/>
          <a:p>
            <a:r>
              <a:rPr lang="en-US" dirty="0"/>
              <a:t>Population distribution</a:t>
            </a:r>
            <a:endParaRPr lang="en-GB" dirty="0"/>
          </a:p>
        </p:txBody>
      </p:sp>
      <p:sp>
        <p:nvSpPr>
          <p:cNvPr id="7" name="Text Placeholder 6">
            <a:extLst>
              <a:ext uri="{FF2B5EF4-FFF2-40B4-BE49-F238E27FC236}">
                <a16:creationId xmlns:a16="http://schemas.microsoft.com/office/drawing/2014/main" id="{DE28C4C9-6E99-6200-B825-01984C897906}"/>
              </a:ext>
            </a:extLst>
          </p:cNvPr>
          <p:cNvSpPr>
            <a:spLocks noGrp="1"/>
          </p:cNvSpPr>
          <p:nvPr>
            <p:ph idx="1"/>
          </p:nvPr>
        </p:nvSpPr>
        <p:spPr/>
        <p:txBody>
          <a:bodyPr/>
          <a:lstStyle/>
          <a:p>
            <a:r>
              <a:rPr lang="en-US" dirty="0"/>
              <a:t>By district</a:t>
            </a:r>
          </a:p>
          <a:p>
            <a:endParaRPr lang="en-US" dirty="0">
              <a:highlight>
                <a:srgbClr val="DCEAF7"/>
              </a:highlight>
            </a:endParaRPr>
          </a:p>
        </p:txBody>
      </p:sp>
      <p:pic>
        <p:nvPicPr>
          <p:cNvPr id="16" name="Picture 15">
            <a:extLst>
              <a:ext uri="{FF2B5EF4-FFF2-40B4-BE49-F238E27FC236}">
                <a16:creationId xmlns:a16="http://schemas.microsoft.com/office/drawing/2014/main" id="{EE27C150-3651-C430-55B6-7FD8C1F0E8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86616" y="2106696"/>
            <a:ext cx="9144019" cy="4572009"/>
          </a:xfrm>
          <a:prstGeom prst="rect">
            <a:avLst/>
          </a:prstGeom>
        </p:spPr>
      </p:pic>
    </p:spTree>
    <p:extLst>
      <p:ext uri="{BB962C8B-B14F-4D97-AF65-F5344CB8AC3E}">
        <p14:creationId xmlns:p14="http://schemas.microsoft.com/office/powerpoint/2010/main" val="3196010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3915</TotalTime>
  <Words>1888</Words>
  <Application>Microsoft Office PowerPoint</Application>
  <PresentationFormat>Widescreen</PresentationFormat>
  <Paragraphs>203</Paragraphs>
  <Slides>28</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Aptos</vt:lpstr>
      <vt:lpstr>Aptos Display</vt:lpstr>
      <vt:lpstr>Arial</vt:lpstr>
      <vt:lpstr>Cambria Math</vt:lpstr>
      <vt:lpstr>Office Theme</vt:lpstr>
      <vt:lpstr>Person-based accessibility analysis of a car-free Berlin using MATSim</vt:lpstr>
      <vt:lpstr>Structure</vt:lpstr>
      <vt:lpstr>1.1 Research question</vt:lpstr>
      <vt:lpstr>Research questions</vt:lpstr>
      <vt:lpstr>2.1 MATSim framework</vt:lpstr>
      <vt:lpstr>2.2 Scenarios</vt:lpstr>
      <vt:lpstr>Facilities</vt:lpstr>
      <vt:lpstr>2.3 Person-based accessibility</vt:lpstr>
      <vt:lpstr>2.3 Person-based accessibility</vt:lpstr>
      <vt:lpstr>2.4 Multimodal accessibility</vt:lpstr>
      <vt:lpstr>Why logSum and not best mode score?</vt:lpstr>
      <vt:lpstr>3.1 Base vs policy scenario </vt:lpstr>
      <vt:lpstr>3.1 Base vs policy scenario </vt:lpstr>
      <vt:lpstr>3.2 Multimodal accessibility by income </vt:lpstr>
      <vt:lpstr>3.3 Multimodal accessibility by district </vt:lpstr>
      <vt:lpstr>PowerPoint Presentation</vt:lpstr>
      <vt:lpstr>PowerPoint Presentation</vt:lpstr>
      <vt:lpstr>3.4 Accessibility gains/losses</vt:lpstr>
      <vt:lpstr>4.1 Conclusion (preliminary)</vt:lpstr>
      <vt:lpstr>4.2 Remaining work and timeline</vt:lpstr>
      <vt:lpstr>4.3 Questions</vt:lpstr>
      <vt:lpstr>PowerPoint Presentation</vt:lpstr>
      <vt:lpstr>Why is there negative relationship between income and mm acc delta despite car avail not income dependant (from persons file) </vt:lpstr>
      <vt:lpstr>Why/how agents score improve after multimodalAcc in car free berlin (policy)? </vt:lpstr>
      <vt:lpstr>R</vt:lpstr>
      <vt:lpstr>QGIS</vt:lpstr>
      <vt:lpstr>Population distribution</vt:lpstr>
      <vt:lpstr>Population distribution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TU-Pseudonym 2200807159077808</dc:creator>
  <cp:lastModifiedBy>TU-Pseudonym 2200807159077808</cp:lastModifiedBy>
  <cp:revision>13</cp:revision>
  <dcterms:created xsi:type="dcterms:W3CDTF">2026-02-23T12:38:49Z</dcterms:created>
  <dcterms:modified xsi:type="dcterms:W3CDTF">2026-05-08T19:17:54Z</dcterms:modified>
</cp:coreProperties>
</file>