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71" r:id="rId4"/>
    <p:sldId id="260" r:id="rId5"/>
    <p:sldId id="258" r:id="rId6"/>
    <p:sldId id="259" r:id="rId7"/>
    <p:sldId id="286" r:id="rId8"/>
    <p:sldId id="287" r:id="rId9"/>
    <p:sldId id="263" r:id="rId10"/>
    <p:sldId id="285" r:id="rId11"/>
    <p:sldId id="274" r:id="rId12"/>
    <p:sldId id="261" r:id="rId13"/>
    <p:sldId id="275" r:id="rId14"/>
    <p:sldId id="276" r:id="rId15"/>
    <p:sldId id="262" r:id="rId16"/>
    <p:sldId id="277" r:id="rId17"/>
    <p:sldId id="278" r:id="rId18"/>
    <p:sldId id="272" r:id="rId19"/>
    <p:sldId id="266" r:id="rId20"/>
    <p:sldId id="264" r:id="rId21"/>
    <p:sldId id="279" r:id="rId22"/>
    <p:sldId id="280" r:id="rId23"/>
    <p:sldId id="284" r:id="rId24"/>
    <p:sldId id="281" r:id="rId25"/>
    <p:sldId id="282" r:id="rId26"/>
    <p:sldId id="283" r:id="rId27"/>
    <p:sldId id="273" r:id="rId28"/>
    <p:sldId id="268" r:id="rId29"/>
    <p:sldId id="269" r:id="rId30"/>
    <p:sldId id="270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56F7B-D492-478D-8475-001D89A72A4F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DB061-9263-4562-BCBF-5C735094C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12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into methodological research questions and case study ones. Like maybe How location-based vs person-based accessibility compare to each other?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78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4C23-C400-C9F2-5033-95246253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A2B52-EBF7-436A-A80B-67C682B58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89E04-0227-121A-62AF-DF5270F91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into methodological research questions and case study ones. Like maybe How location-based vs person-based accessibility compare to each other?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BB3AB-AF90-5596-DC47-3BCEBC25B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906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hospitals/</a:t>
            </a:r>
            <a:r>
              <a:rPr lang="en-US" dirty="0" err="1"/>
              <a:t>rathaus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53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 labels font size 14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707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logsum</a:t>
            </a:r>
            <a:r>
              <a:rPr lang="en-US" dirty="0"/>
              <a:t> and not best score? </a:t>
            </a:r>
            <a:br>
              <a:rPr lang="en-US" dirty="0"/>
            </a:br>
            <a:r>
              <a:rPr lang="en-US" dirty="0"/>
              <a:t>*add references to plots here maybe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301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cases </a:t>
            </a:r>
            <a:r>
              <a:rPr lang="en-US" dirty="0" err="1"/>
              <a:t>theyre</a:t>
            </a:r>
            <a:r>
              <a:rPr lang="en-US" dirty="0"/>
              <a:t> similar, can add simple math example (to know)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768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 of mm acc (base)</a:t>
            </a:r>
          </a:p>
          <a:p>
            <a:r>
              <a:rPr lang="en-US" dirty="0"/>
              <a:t>Boxplot by income (base)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761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Ignore outliers, better see clearly the distribution</a:t>
            </a:r>
            <a:br>
              <a:rPr lang="en-US" dirty="0"/>
            </a:br>
            <a:r>
              <a:rPr lang="en-US" dirty="0"/>
              <a:t>add comparison histogram that shows both </a:t>
            </a:r>
            <a:r>
              <a:rPr lang="en-US" dirty="0" err="1"/>
              <a:t>base+policy</a:t>
            </a:r>
            <a:r>
              <a:rPr lang="en-US" dirty="0"/>
              <a:t> but different color(shadow) with same bins + count on the plot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313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</a:t>
            </a:r>
            <a:r>
              <a:rPr lang="el-GR" dirty="0"/>
              <a:t>Δ</a:t>
            </a:r>
            <a:r>
              <a:rPr lang="en-US" dirty="0"/>
              <a:t> + median </a:t>
            </a:r>
            <a:r>
              <a:rPr lang="el-GR" dirty="0"/>
              <a:t>Δ</a:t>
            </a:r>
            <a:endParaRPr lang="en-US" dirty="0"/>
          </a:p>
          <a:p>
            <a:r>
              <a:rPr lang="en-US" dirty="0"/>
              <a:t>% worsened/improved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160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33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Agents whose acc is dependent by car in the base scenario experience larger losses under the policy.</a:t>
            </a:r>
            <a:br>
              <a:rPr lang="en-US" dirty="0"/>
            </a:br>
            <a:r>
              <a:rPr lang="en-US" dirty="0"/>
              <a:t>This plot demonstrates that multimodal accessibility losses are determined by the relative contribution of car to total accessibility, as opposed directly by income, which explains why car-only and multimodal analyses yield different distributional patterns.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214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which agent has the highest acc for single opportunity</a:t>
            </a:r>
            <a:br>
              <a:rPr lang="en-US" dirty="0"/>
            </a:br>
            <a:r>
              <a:rPr lang="en-US" dirty="0"/>
              <a:t>low income agent (that car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DB061-9263-4562-BCBF-5C735094C67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89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D54F-19E3-281C-B313-98ED48F69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01087-5CAF-39FF-BA2A-2E149A530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6755-A72A-9326-09CA-32553460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ACD8C-AF23-637C-9865-3795A1068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4ECA-E7D7-777D-DE52-BFA2D4A2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54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CDFD-309C-B856-63E2-808C3FD6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8095-276C-1591-0AF0-25998E4D2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ECB98-3E74-C290-4FCD-DC1FF5E3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13752-54D8-C4C9-DC5F-D3372029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B6096-0C7D-3025-534F-ACCB6BB7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87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0D2B-D3B3-327A-560B-F7C70D8D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BD9C5-647E-2390-E9D0-C870960FC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C3008-C19F-E6D9-37FA-A2F90AF4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85F59-0D7F-13AC-C44F-AD167848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8C583-1DA2-6941-3721-ABB87659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1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8179-C095-91C4-2C99-09B55967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A42E6-C232-1622-EE56-A5239D894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6B43D-15A4-7DD5-D9AD-DA73876EE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72E9-3D14-723E-E8D8-D65BC407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6DA60-C4DA-AEF1-6D5C-39FCDFB2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C647D-ED91-5DC9-71A7-37758D7A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78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162F6-2C48-0D84-F955-2AFCC330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F9106-4DFB-DAC4-E8CB-B0263D3A7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D3443-7DDF-0116-511B-126B13B7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898BF-1D51-7E1F-CD20-5FB02FBA6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AB874-7BCD-65A2-40DB-9B2D54C60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AEA83-1229-0B4C-DBF8-6349C68B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ED7C1-67C0-1890-0FC9-A9297A07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4A406-9FF7-5516-23F5-55B3F53A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1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82B1-2247-429A-AF21-7912E0A2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6B332-A089-7C70-AF24-2377932F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D1A22-0C34-63B9-6926-AD44A3E6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C9D21-7810-CBD5-C0DD-D885F99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07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6AB58A-52C3-77EF-47BE-763FB17E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F3122-1DCD-0FEC-B737-6F0121DB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4E1F3-BF24-3A84-D733-DF61099C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57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2C38-A4B7-EA6F-1B75-30A249FD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83F4F-EB05-EAA5-9456-95CAFB17D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6DDDF-0A88-655F-358C-BBE6BE34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4F4DF-0ECA-A5BA-9E49-47FCA2B6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8B938-AF8B-809E-CDF0-D5FADB81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4ED89-EAA4-D487-E280-29641B02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67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4610-48DE-3C7B-7B7D-C4B62313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8EAEFC-BAE4-FDA3-7788-B3D7AEDE6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34784-BB5B-D0EA-F5C6-B6EF6D8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9BCB8-85BD-63DF-4545-B336C909A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BC88-21F7-670D-45C6-6EEB1485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93487-EEE5-C4F2-79B6-7F54F07F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01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E284-187E-1F10-7B64-F6D8CDD5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622B0-C913-65AB-6BE0-CCA761A72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0161A-1328-7ACC-3A75-FEAB9BD2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F7E89-3E07-0037-9770-25031642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72EB7-C189-94A1-76EC-EEF66D62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37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8EDA3-1F3F-0111-C99D-C093B3554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FE277-FD42-ACF5-3E13-A9F0381C6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95382-576E-408D-32C7-52FB0E3D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991FF-6444-E99F-8BA1-D848AFBD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BB020-99DB-634C-8ACB-87323A1C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23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8B90FF-764A-A68C-E80A-A354FD31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46CD5-6D55-C6AC-A135-00849A6A7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31A4D-649E-45DF-8F4F-4625C7C67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F70D0-65BE-4C1A-960A-A9740BCDDED0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95C65-8731-C4DA-02AA-7EF3BB448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FAB7-4149-5DF5-A71E-7CA1605B0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20F16-2D51-4EBA-8FA4-A321E8189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1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216622-326B-8206-57F5-AB51AFF6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TO-DO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B00C29-46F7-98FA-4B22-9B65B5FA07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Make to do list</a:t>
            </a:r>
          </a:p>
          <a:p>
            <a:r>
              <a:rPr lang="en-US" dirty="0"/>
              <a:t>Answer the 2 lingering questions</a:t>
            </a:r>
          </a:p>
          <a:p>
            <a:r>
              <a:rPr lang="en-US" dirty="0"/>
              <a:t>Figure out what needs to be updated (run file)</a:t>
            </a:r>
          </a:p>
          <a:p>
            <a:r>
              <a:rPr lang="en-US" dirty="0"/>
              <a:t>Remove age modifier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79C18-B18E-2661-F2C6-B074421D69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17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1A29-0DC5-2C0B-7E9D-0BE87E3B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Research question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24AAB-5AB0-F03F-DA49-A9115C614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How does a car-free inner-ring scenario in Berlin affect person-based accessibility and its distribution across </a:t>
            </a:r>
            <a:r>
              <a:rPr lang="en-US" dirty="0">
                <a:highlight>
                  <a:srgbClr val="FFFF00"/>
                </a:highlight>
                <a:cs typeface="Times New Roman" panose="02020603050405020304" pitchFamily="18" charset="0"/>
              </a:rPr>
              <a:t>socio-demographic groups</a:t>
            </a:r>
            <a:r>
              <a:rPr lang="en-US" dirty="0">
                <a:cs typeface="Times New Roman" panose="02020603050405020304" pitchFamily="18" charset="0"/>
              </a:rPr>
              <a:t> using MATSim?</a:t>
            </a:r>
          </a:p>
          <a:p>
            <a:r>
              <a:rPr lang="en-GB" dirty="0">
                <a:cs typeface="Times New Roman" panose="02020603050405020304" pitchFamily="18" charset="0"/>
              </a:rPr>
              <a:t>How does the car-free scenario affect person-based accessibility when considering individual transport modes separately?</a:t>
            </a:r>
          </a:p>
          <a:p>
            <a:r>
              <a:rPr lang="en-GB" dirty="0">
                <a:cs typeface="Times New Roman" panose="02020603050405020304" pitchFamily="18" charset="0"/>
              </a:rPr>
              <a:t>How does multi-modal accessibility influence the accessibility and equity impacts?</a:t>
            </a:r>
          </a:p>
          <a:p>
            <a:r>
              <a:rPr lang="en-GB" dirty="0">
                <a:cs typeface="Times New Roman" panose="02020603050405020304" pitchFamily="18" charset="0"/>
              </a:rPr>
              <a:t>How are accessibility changes distributed across income groups under the car-free scenario? Across age groups? Spatially across districts?</a:t>
            </a:r>
          </a:p>
          <a:p>
            <a:endParaRPr lang="en-GB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4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DF79-F0BB-EE33-3AFC-B55D7214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B392-05D9-4BA1-C56D-49C8E9A6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Research question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EEBE-6BE9-11F2-098E-84A3BC93B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dirty="0">
                <a:cs typeface="Times New Roman" panose="02020603050405020304" pitchFamily="18" charset="0"/>
              </a:rPr>
              <a:t>How does a car-free inner-ring scenario in Berlin affect person-based accessibility using MATSim?</a:t>
            </a:r>
          </a:p>
          <a:p>
            <a:pPr marL="0" indent="0">
              <a:buNone/>
            </a:pPr>
            <a:r>
              <a:rPr lang="en-GB" dirty="0">
                <a:cs typeface="Times New Roman" panose="02020603050405020304" pitchFamily="18" charset="0"/>
              </a:rPr>
              <a:t>Methodological research questions:</a:t>
            </a:r>
          </a:p>
          <a:p>
            <a:r>
              <a:rPr lang="en-GB" dirty="0">
                <a:highlight>
                  <a:srgbClr val="FFFF00"/>
                </a:highlight>
                <a:cs typeface="Times New Roman" panose="02020603050405020304" pitchFamily="18" charset="0"/>
              </a:rPr>
              <a:t>How does person-based accessibility compare to location-based accessibility in evaluating policy impacts?</a:t>
            </a:r>
          </a:p>
          <a:p>
            <a:r>
              <a:rPr lang="en-GB" dirty="0">
                <a:cs typeface="Times New Roman" panose="02020603050405020304" pitchFamily="18" charset="0"/>
              </a:rPr>
              <a:t>How does integrating socio-demographic attributes influence accessibility assessment?</a:t>
            </a:r>
          </a:p>
          <a:p>
            <a:r>
              <a:rPr lang="en-GB" dirty="0">
                <a:cs typeface="Times New Roman" panose="02020603050405020304" pitchFamily="18" charset="0"/>
              </a:rPr>
              <a:t>How does multimodal accessibility alter the interpretation of accessibility and equity effects?</a:t>
            </a:r>
          </a:p>
          <a:p>
            <a:pPr marL="0" indent="0">
              <a:buNone/>
            </a:pPr>
            <a:r>
              <a:rPr lang="en-GB" dirty="0">
                <a:cs typeface="Times New Roman" panose="02020603050405020304" pitchFamily="18" charset="0"/>
              </a:rPr>
              <a:t>Case study research questions:</a:t>
            </a:r>
          </a:p>
          <a:p>
            <a:r>
              <a:rPr lang="en-GB" dirty="0">
                <a:highlight>
                  <a:srgbClr val="FFFF00"/>
                </a:highlight>
                <a:cs typeface="Times New Roman" panose="02020603050405020304" pitchFamily="18" charset="0"/>
              </a:rPr>
              <a:t>How does the car-free scenario affect accessibility in Berlin?</a:t>
            </a:r>
          </a:p>
          <a:p>
            <a:r>
              <a:rPr lang="en-GB" dirty="0">
                <a:cs typeface="Times New Roman" panose="02020603050405020304" pitchFamily="18" charset="0"/>
              </a:rPr>
              <a:t>How are accessibility changes distributed across income groups, age groups and districts?</a:t>
            </a:r>
          </a:p>
          <a:p>
            <a:r>
              <a:rPr lang="en-GB" dirty="0">
                <a:cs typeface="Times New Roman" panose="02020603050405020304" pitchFamily="18" charset="0"/>
              </a:rPr>
              <a:t>Who benefits/disadvantaged under the car-free scenario?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A694A-C443-A46C-1F19-FA6B3547C091}"/>
              </a:ext>
            </a:extLst>
          </p:cNvPr>
          <p:cNvSpPr txBox="1"/>
          <p:nvPr/>
        </p:nvSpPr>
        <p:spPr>
          <a:xfrm>
            <a:off x="11443447" y="2342291"/>
            <a:ext cx="231737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Heat map </a:t>
            </a:r>
            <a:r>
              <a:rPr lang="en-US" sz="1200" dirty="0" err="1"/>
              <a:t>locbased</a:t>
            </a:r>
            <a:r>
              <a:rPr lang="en-US" sz="1200" dirty="0"/>
              <a:t> acc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Map pb acc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scatter plot </a:t>
            </a:r>
            <a:r>
              <a:rPr lang="en-US" sz="1200" dirty="0" err="1"/>
              <a:t>locbased</a:t>
            </a:r>
            <a:r>
              <a:rPr lang="en-US" sz="1200" dirty="0"/>
              <a:t> vs pb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DB3AE-D5F1-951F-1761-0E32178D535F}"/>
              </a:ext>
            </a:extLst>
          </p:cNvPr>
          <p:cNvSpPr txBox="1"/>
          <p:nvPr/>
        </p:nvSpPr>
        <p:spPr>
          <a:xfrm>
            <a:off x="11567338" y="3093383"/>
            <a:ext cx="2640106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Acc by income (into car avail)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Acc by age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Acc by </a:t>
            </a:r>
            <a:r>
              <a:rPr lang="en-US" sz="1200" dirty="0" err="1"/>
              <a:t>bezirk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5D43F-D7FB-05FB-BF7E-08216CBB778D}"/>
              </a:ext>
            </a:extLst>
          </p:cNvPr>
          <p:cNvSpPr txBox="1"/>
          <p:nvPr/>
        </p:nvSpPr>
        <p:spPr>
          <a:xfrm>
            <a:off x="10636622" y="3827260"/>
            <a:ext cx="2891117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Car only </a:t>
            </a:r>
            <a:r>
              <a:rPr lang="el-GR" sz="1200" dirty="0"/>
              <a:t>Δ </a:t>
            </a:r>
            <a:r>
              <a:rPr lang="en-US" sz="1200" dirty="0"/>
              <a:t>by income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Multimodal </a:t>
            </a:r>
            <a:r>
              <a:rPr lang="el-GR" sz="1200" dirty="0"/>
              <a:t>Δ </a:t>
            </a:r>
            <a:r>
              <a:rPr lang="en-US" sz="1200" dirty="0"/>
              <a:t>by income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Plot of car-share vs multimodal </a:t>
            </a:r>
            <a:r>
              <a:rPr lang="el-GR" sz="1200" dirty="0"/>
              <a:t>Δ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93447-574B-CF3E-9B5C-704E76A914C4}"/>
              </a:ext>
            </a:extLst>
          </p:cNvPr>
          <p:cNvSpPr txBox="1"/>
          <p:nvPr/>
        </p:nvSpPr>
        <p:spPr>
          <a:xfrm>
            <a:off x="-1738256" y="4150425"/>
            <a:ext cx="2576456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Map of </a:t>
            </a:r>
            <a:r>
              <a:rPr lang="el-GR" sz="1200" dirty="0"/>
              <a:t>Δ</a:t>
            </a:r>
            <a:r>
              <a:rPr lang="en-US" sz="1200" dirty="0"/>
              <a:t> accessibility by district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Bar plot: mean </a:t>
            </a:r>
            <a:r>
              <a:rPr lang="el-GR" sz="1200" dirty="0"/>
              <a:t>Δ</a:t>
            </a:r>
            <a:r>
              <a:rPr lang="en-US" sz="1200" dirty="0"/>
              <a:t> by district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% worsened by district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DD725-D8B8-4B24-AC78-3DB9C49E0497}"/>
              </a:ext>
            </a:extLst>
          </p:cNvPr>
          <p:cNvSpPr txBox="1"/>
          <p:nvPr/>
        </p:nvSpPr>
        <p:spPr>
          <a:xfrm>
            <a:off x="-2232805" y="4870931"/>
            <a:ext cx="3243072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Boxplot </a:t>
            </a:r>
            <a:r>
              <a:rPr lang="el-GR" sz="1200" dirty="0"/>
              <a:t>Δ</a:t>
            </a:r>
            <a:r>
              <a:rPr lang="en-US" sz="1200" dirty="0"/>
              <a:t> by income, age, district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Table share improved/worsened by group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75D93F-A3D8-AC9A-E52A-2AEC701F15C4}"/>
              </a:ext>
            </a:extLst>
          </p:cNvPr>
          <p:cNvSpPr txBox="1"/>
          <p:nvPr/>
        </p:nvSpPr>
        <p:spPr>
          <a:xfrm>
            <a:off x="-2056827" y="5406772"/>
            <a:ext cx="2891117" cy="19389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Outcome table share: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Improved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No change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worsened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Table share by: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Income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Age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Car avail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Scatter:</a:t>
            </a:r>
          </a:p>
          <a:p>
            <a:pPr marL="742950" lvl="1" indent="-285750">
              <a:buFontTx/>
              <a:buChar char="-"/>
            </a:pPr>
            <a:r>
              <a:rPr lang="en-US" sz="1200" dirty="0">
                <a:highlight>
                  <a:srgbClr val="FFFF00"/>
                </a:highlight>
              </a:rPr>
              <a:t>Base accessibility vs </a:t>
            </a:r>
            <a:r>
              <a:rPr lang="el-GR" sz="1200" dirty="0">
                <a:highlight>
                  <a:srgbClr val="FFFF00"/>
                </a:highlight>
              </a:rPr>
              <a:t>Δ</a:t>
            </a:r>
            <a:r>
              <a:rPr lang="en-US" sz="1200" dirty="0">
                <a:highlight>
                  <a:srgbClr val="FFFF00"/>
                </a:highlight>
              </a:rPr>
              <a:t> </a:t>
            </a:r>
            <a:endParaRPr lang="en-GB" sz="1200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73E331-2C25-A622-6AC1-6B7CEBD87622}"/>
                  </a:ext>
                </a:extLst>
              </p:cNvPr>
              <p:cNvSpPr txBox="1"/>
              <p:nvPr/>
            </p:nvSpPr>
            <p:spPr>
              <a:xfrm>
                <a:off x="10925108" y="4411394"/>
                <a:ext cx="4100456" cy="77072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Compute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𝑐𝑎𝑟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𝑒𝑥𝑝𝑆𝑢𝑚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𝑐𝑎𝑟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𝑒𝑥𝑝𝑆𝑢𝑚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𝑐𝑎𝑟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𝑒𝑥𝑝𝑆𝑢𝑚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𝑡𝑤𝑎𝑙𝑘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𝑒𝑥𝑝𝑆𝑢𝑚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𝑝𝑡</m:t>
                            </m:r>
                          </m:sub>
                        </m:sSub>
                      </m:den>
                    </m:f>
                  </m:oMath>
                </a14:m>
                <a:endParaRPr lang="en-GB" sz="1200" dirty="0"/>
              </a:p>
              <a:p>
                <a:r>
                  <a:rPr lang="en-GB" sz="1200" dirty="0"/>
                  <a:t>How important car is in the total </a:t>
                </a:r>
                <a:r>
                  <a:rPr lang="en-GB" sz="1200" dirty="0" err="1"/>
                  <a:t>acc</a:t>
                </a:r>
                <a:r>
                  <a:rPr lang="en-GB" sz="1200" dirty="0"/>
                  <a:t> for that agent</a:t>
                </a:r>
              </a:p>
              <a:p>
                <a:r>
                  <a:rPr lang="en-GB" sz="1200" dirty="0"/>
                  <a:t>X-axis: car </a:t>
                </a:r>
                <a:r>
                  <a:rPr lang="en-GB" sz="1200" dirty="0" err="1"/>
                  <a:t>share,base</a:t>
                </a:r>
                <a:r>
                  <a:rPr lang="en-GB" sz="1200" dirty="0"/>
                  <a:t>, y-axis: mm </a:t>
                </a:r>
                <a:r>
                  <a:rPr lang="el-GR" sz="1200" dirty="0"/>
                  <a:t>Δ</a:t>
                </a:r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73E331-2C25-A622-6AC1-6B7CEBD8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5108" y="4411394"/>
                <a:ext cx="4100456" cy="770724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B6BEE3-DDCC-F5D0-B0C2-3EBB0E79A6E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132288" y="2665457"/>
            <a:ext cx="311159" cy="269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03A7EA-0F64-CE76-8198-B572BFC7F2E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0925108" y="3416549"/>
            <a:ext cx="642230" cy="65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948237-C923-E850-9344-AA91F8A07CD5}"/>
              </a:ext>
            </a:extLst>
          </p:cNvPr>
          <p:cNvCxnSpPr/>
          <p:nvPr/>
        </p:nvCxnSpPr>
        <p:spPr>
          <a:xfrm flipH="1" flipV="1">
            <a:off x="9579935" y="3987209"/>
            <a:ext cx="1056687" cy="424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DDB2FB-854A-09BF-53AD-1668A9EC11B2}"/>
              </a:ext>
            </a:extLst>
          </p:cNvPr>
          <p:cNvCxnSpPr/>
          <p:nvPr/>
        </p:nvCxnSpPr>
        <p:spPr>
          <a:xfrm>
            <a:off x="541895" y="4515429"/>
            <a:ext cx="584791" cy="104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4A83D1-D77E-4AB9-AF5D-3805F18CA54B}"/>
              </a:ext>
            </a:extLst>
          </p:cNvPr>
          <p:cNvCxnSpPr>
            <a:cxnSpLocks/>
          </p:cNvCxnSpPr>
          <p:nvPr/>
        </p:nvCxnSpPr>
        <p:spPr>
          <a:xfrm>
            <a:off x="361507" y="5039833"/>
            <a:ext cx="7651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C6B052-F4F9-C83A-7A7F-E097F5CE41B9}"/>
              </a:ext>
            </a:extLst>
          </p:cNvPr>
          <p:cNvCxnSpPr>
            <a:cxnSpLocks/>
          </p:cNvCxnSpPr>
          <p:nvPr/>
        </p:nvCxnSpPr>
        <p:spPr>
          <a:xfrm flipV="1">
            <a:off x="457200" y="5486859"/>
            <a:ext cx="677305" cy="275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04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5D53-5C43-C418-846E-A1D9F1E3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MATSim framework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08284-6FA7-807E-489F-5193C639B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MATSim is suitable?</a:t>
            </a:r>
          </a:p>
          <a:p>
            <a:r>
              <a:rPr lang="en-US" dirty="0"/>
              <a:t>Agent-based simulation framework</a:t>
            </a:r>
          </a:p>
          <a:p>
            <a:pPr lvl="1"/>
            <a:r>
              <a:rPr lang="en-US" dirty="0"/>
              <a:t>Assign individual agents with socio-demographic attributes</a:t>
            </a:r>
          </a:p>
          <a:p>
            <a:r>
              <a:rPr lang="en-US" dirty="0"/>
              <a:t>Modularity of networks</a:t>
            </a:r>
          </a:p>
          <a:p>
            <a:pPr lvl="1"/>
            <a:r>
              <a:rPr lang="en-US" dirty="0"/>
              <a:t>Including public transport</a:t>
            </a:r>
          </a:p>
          <a:p>
            <a:r>
              <a:rPr lang="en-US" dirty="0"/>
              <a:t>Simulation output</a:t>
            </a:r>
          </a:p>
          <a:p>
            <a:r>
              <a:rPr lang="en-US" dirty="0"/>
              <a:t>Implement policy measures</a:t>
            </a:r>
            <a:endParaRPr lang="en-GB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30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E1AE-38FC-7EC3-E98D-62E4C4EC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2C4B7-BED3-7C4C-0321-27CF0F37A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Base</a:t>
            </a:r>
          </a:p>
          <a:p>
            <a:r>
              <a:rPr lang="en-US" dirty="0"/>
              <a:t>Represents a default Berlin network</a:t>
            </a:r>
          </a:p>
          <a:p>
            <a:r>
              <a:rPr lang="en-US" dirty="0"/>
              <a:t>Full car access across Berlin</a:t>
            </a:r>
          </a:p>
          <a:p>
            <a:r>
              <a:rPr lang="en-US" dirty="0">
                <a:highlight>
                  <a:srgbClr val="FFFF00"/>
                </a:highlight>
              </a:rPr>
              <a:t>Distribution across</a:t>
            </a:r>
            <a:r>
              <a:rPr lang="en-US" dirty="0"/>
              <a:t> (income groups, age groups, </a:t>
            </a:r>
            <a:r>
              <a:rPr lang="en-US" dirty="0" err="1"/>
              <a:t>Bezirke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Policy</a:t>
            </a:r>
          </a:p>
          <a:p>
            <a:r>
              <a:rPr lang="en-US" dirty="0"/>
              <a:t>Car access restricted within inner ring (refer to policy proposal)</a:t>
            </a:r>
          </a:p>
          <a:p>
            <a:r>
              <a:rPr lang="en-US" dirty="0">
                <a:highlight>
                  <a:srgbClr val="FFFF00"/>
                </a:highlight>
              </a:rPr>
              <a:t>List ruleset</a:t>
            </a:r>
            <a:r>
              <a:rPr lang="en-US" dirty="0"/>
              <a:t> on how car travel is restricted specific to the policy scenario</a:t>
            </a:r>
          </a:p>
          <a:p>
            <a:r>
              <a:rPr lang="en-US" dirty="0"/>
              <a:t>Pt and walking remain unchanged</a:t>
            </a:r>
          </a:p>
          <a:p>
            <a:r>
              <a:rPr lang="en-US" dirty="0"/>
              <a:t>No new infrastructure improvements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9128E-6710-081A-1F91-028EC95C3905}"/>
              </a:ext>
            </a:extLst>
          </p:cNvPr>
          <p:cNvSpPr txBox="1"/>
          <p:nvPr/>
        </p:nvSpPr>
        <p:spPr>
          <a:xfrm>
            <a:off x="9376724" y="2988833"/>
            <a:ext cx="328288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Read xml in R for 6.4 person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9149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66BC-4573-EB24-5FF4-10DF6C0F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Person-based accessibility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2F5A-CF1F-9A91-76F2-24E901A1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Why?</a:t>
            </a:r>
          </a:p>
          <a:p>
            <a:pPr marL="0" indent="0">
              <a:buNone/>
            </a:pPr>
            <a:r>
              <a:rPr lang="en-US" dirty="0"/>
              <a:t>Before: 	- Location based</a:t>
            </a:r>
          </a:p>
          <a:p>
            <a:pPr marL="0" indent="0">
              <a:buNone/>
            </a:pPr>
            <a:r>
              <a:rPr lang="en-US" dirty="0"/>
              <a:t>	- Ignores socio-demographic heterogeneity</a:t>
            </a:r>
          </a:p>
          <a:p>
            <a:pPr marL="0" indent="0">
              <a:buNone/>
            </a:pPr>
            <a:r>
              <a:rPr lang="en-US" dirty="0"/>
              <a:t>	- Aggregate</a:t>
            </a:r>
          </a:p>
          <a:p>
            <a:pPr marL="0" indent="0">
              <a:buNone/>
            </a:pPr>
            <a:r>
              <a:rPr lang="en-US" dirty="0"/>
              <a:t>After:	- Computes at an individual level</a:t>
            </a:r>
          </a:p>
          <a:p>
            <a:pPr marL="0" indent="0">
              <a:buNone/>
            </a:pPr>
            <a:r>
              <a:rPr lang="en-US" dirty="0"/>
              <a:t>	- Uses agent attributes (income, age etc.)</a:t>
            </a:r>
          </a:p>
          <a:p>
            <a:pPr marL="0" indent="0">
              <a:buNone/>
            </a:pPr>
            <a:r>
              <a:rPr lang="en-US" dirty="0"/>
              <a:t>What?</a:t>
            </a:r>
          </a:p>
          <a:p>
            <a:r>
              <a:rPr lang="en-US" dirty="0"/>
              <a:t>Mode-specific accessibility (walk, car, pt)</a:t>
            </a:r>
          </a:p>
          <a:p>
            <a:r>
              <a:rPr lang="en-US" dirty="0"/>
              <a:t>Multi-modal accessibility (</a:t>
            </a:r>
            <a:r>
              <a:rPr lang="en-US" dirty="0" err="1"/>
              <a:t>logsum</a:t>
            </a:r>
            <a:r>
              <a:rPr lang="en-US" dirty="0"/>
              <a:t> over (available) modes)</a:t>
            </a:r>
          </a:p>
          <a:p>
            <a:r>
              <a:rPr lang="en-US" dirty="0"/>
              <a:t>Accessibility differences by: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Car ownership</a:t>
            </a:r>
          </a:p>
          <a:p>
            <a:pPr lvl="1"/>
            <a:r>
              <a:rPr lang="en-US" dirty="0"/>
              <a:t>Home location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70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4816-813E-FF46-099B-341B3945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teleportedWalk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64928-A709-3A42-5BBB-1D032A8F2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Age modifier: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&gt;= 60, then 30% penalty to walk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 15-29, then 10% bonus to walk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*linear modifier for more detailed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ighlight>
                  <a:srgbClr val="FFFF00"/>
                </a:highlight>
              </a:rPr>
              <a:t>*</a:t>
            </a:r>
            <a:r>
              <a:rPr lang="en-GB" dirty="0" err="1">
                <a:highlight>
                  <a:srgbClr val="FFFF00"/>
                </a:highlight>
              </a:rPr>
              <a:t>restricted_mobility</a:t>
            </a:r>
            <a:r>
              <a:rPr lang="en-GB" dirty="0">
                <a:highlight>
                  <a:srgbClr val="FFFF00"/>
                </a:highlight>
              </a:rPr>
              <a:t> modifier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BB0A137-FA3A-DF6B-684E-5163978F26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12" y="987425"/>
            <a:ext cx="5499352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35672-94CF-0D73-94C6-1FDE98CBADC3}"/>
              </a:ext>
            </a:extLst>
          </p:cNvPr>
          <p:cNvSpPr txBox="1"/>
          <p:nvPr/>
        </p:nvSpPr>
        <p:spPr>
          <a:xfrm>
            <a:off x="10621890" y="0"/>
            <a:ext cx="157011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Outdated plot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87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00B2-4DFE-10B2-3573-72C63B4A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F222-8EA5-16B8-958A-DB7D6BC7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39008-FC48-C501-F829-830A85372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Takes into account the global avg income and then each agents’ income factor is then determined with</a:t>
            </a:r>
          </a:p>
          <a:p>
            <a:r>
              <a:rPr lang="en-GB" dirty="0"/>
              <a:t>double </a:t>
            </a:r>
            <a:r>
              <a:rPr lang="en-GB" dirty="0" err="1"/>
              <a:t>incomeFactor</a:t>
            </a:r>
            <a:r>
              <a:rPr lang="en-GB" dirty="0"/>
              <a:t> = </a:t>
            </a:r>
            <a:r>
              <a:rPr lang="en-GB" dirty="0" err="1"/>
              <a:t>this.globalAverageIncome</a:t>
            </a:r>
            <a:r>
              <a:rPr lang="en-GB" dirty="0"/>
              <a:t> / </a:t>
            </a:r>
            <a:r>
              <a:rPr lang="en-GB" dirty="0" err="1"/>
              <a:t>PersonUtils.</a:t>
            </a:r>
            <a:r>
              <a:rPr lang="en-GB" i="1" dirty="0" err="1"/>
              <a:t>getIncome</a:t>
            </a:r>
            <a:r>
              <a:rPr lang="en-GB" dirty="0"/>
              <a:t>((Person) </a:t>
            </a:r>
            <a:r>
              <a:rPr lang="en-GB" dirty="0" err="1"/>
              <a:t>origin.getAttributes</a:t>
            </a:r>
            <a:r>
              <a:rPr lang="en-GB" dirty="0"/>
              <a:t>().</a:t>
            </a:r>
            <a:r>
              <a:rPr lang="en-GB" dirty="0" err="1"/>
              <a:t>getAttribute</a:t>
            </a:r>
            <a:r>
              <a:rPr lang="en-GB" dirty="0"/>
              <a:t>("person"));</a:t>
            </a:r>
          </a:p>
          <a:p>
            <a:r>
              <a:rPr lang="en-US" dirty="0"/>
              <a:t>And then multiplied to the marginal utility of money:</a:t>
            </a:r>
          </a:p>
          <a:p>
            <a:r>
              <a:rPr lang="en-US" dirty="0"/>
              <a:t>double </a:t>
            </a:r>
            <a:r>
              <a:rPr lang="en-US" dirty="0" err="1"/>
              <a:t>utilityDistCarMonetary</a:t>
            </a:r>
            <a:r>
              <a:rPr lang="en-US" dirty="0"/>
              <a:t> = </a:t>
            </a:r>
            <a:r>
              <a:rPr lang="en-US" dirty="0" err="1"/>
              <a:t>distCar</a:t>
            </a:r>
            <a:r>
              <a:rPr lang="en-US" dirty="0"/>
              <a:t> * </a:t>
            </a:r>
            <a:r>
              <a:rPr lang="en-US" dirty="0" err="1"/>
              <a:t>betaCarDistMonetary_m</a:t>
            </a:r>
            <a:r>
              <a:rPr lang="en-US" dirty="0"/>
              <a:t> * </a:t>
            </a:r>
            <a:r>
              <a:rPr lang="en-US" dirty="0" err="1"/>
              <a:t>marginalUtilityOfMoney</a:t>
            </a:r>
            <a:r>
              <a:rPr lang="en-US" dirty="0"/>
              <a:t> * </a:t>
            </a:r>
            <a:r>
              <a:rPr lang="en-US" dirty="0" err="1"/>
              <a:t>incomeFactor</a:t>
            </a:r>
            <a:r>
              <a:rPr lang="en-US" dirty="0"/>
              <a:t>;</a:t>
            </a:r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C39A42-2E3D-9DF1-800E-8A7A3F853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1"/>
          <a:stretch>
            <a:fillRect/>
          </a:stretch>
        </p:blipFill>
        <p:spPr bwMode="auto">
          <a:xfrm>
            <a:off x="4825445" y="601663"/>
            <a:ext cx="3932238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0674FB1-F40E-7225-A598-663B74692B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1"/>
          <a:stretch>
            <a:fillRect/>
          </a:stretch>
        </p:blipFill>
        <p:spPr bwMode="auto">
          <a:xfrm>
            <a:off x="8757683" y="601663"/>
            <a:ext cx="3932237" cy="526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C49CA-19B9-9356-6785-F5497304DD6C}"/>
              </a:ext>
            </a:extLst>
          </p:cNvPr>
          <p:cNvSpPr txBox="1"/>
          <p:nvPr/>
        </p:nvSpPr>
        <p:spPr>
          <a:xfrm>
            <a:off x="10621890" y="0"/>
            <a:ext cx="157011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Outdated plot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6810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3758-B6F0-D2FA-8FC2-65384ED0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accessibility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9E715-D114-73CE-926A-93BA0FD89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Why?</a:t>
            </a:r>
          </a:p>
          <a:p>
            <a:r>
              <a:rPr lang="en-GB" dirty="0"/>
              <a:t>Reflects realistic behavioural choice set</a:t>
            </a:r>
          </a:p>
          <a:p>
            <a:r>
              <a:rPr lang="en-GB" dirty="0"/>
              <a:t>Measures system-level accessibility</a:t>
            </a:r>
          </a:p>
          <a:p>
            <a:pPr marL="0" indent="0">
              <a:buNone/>
            </a:pPr>
            <a:r>
              <a:rPr lang="en-GB" dirty="0"/>
              <a:t>What results show?</a:t>
            </a:r>
          </a:p>
          <a:p>
            <a:r>
              <a:rPr lang="en-GB" dirty="0"/>
              <a:t>Multimodal accessibility losses are smaller than car-only losses</a:t>
            </a:r>
          </a:p>
          <a:p>
            <a:r>
              <a:rPr lang="en-GB" dirty="0"/>
              <a:t>Substitution of modes mitigates impacts</a:t>
            </a:r>
          </a:p>
          <a:p>
            <a:r>
              <a:rPr lang="en-GB" dirty="0"/>
              <a:t>Distribution of impacts changes significantly</a:t>
            </a:r>
          </a:p>
          <a:p>
            <a:r>
              <a:rPr lang="en-GB" dirty="0"/>
              <a:t>Vulnerable groups are not necessarily worst affected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4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319B-DFF4-153B-B8BD-97A10E40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logSum</a:t>
            </a:r>
            <a:r>
              <a:rPr lang="en-US" dirty="0"/>
              <a:t> and not best mode score?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930FD3-8643-6371-9A28-9FE35FA87F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logSum over modes: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ß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𝑐𝑎𝑟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𝑡𝑤𝑎𝑙𝑘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𝑝𝑡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Best available mode: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𝐴𝑐𝑐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𝐴𝑐𝑐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𝐴𝑐𝑐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𝑡𝑤𝑎𝑙𝑘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𝐴𝑐𝑐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 err="1"/>
                  <a:t>logSum</a:t>
                </a:r>
                <a:r>
                  <a:rPr lang="en-GB" dirty="0"/>
                  <a:t> captures the attractiveness of the best option AND values the alternatives as well</a:t>
                </a:r>
              </a:p>
              <a:p>
                <a:pPr marL="0" indent="0">
                  <a:buNone/>
                </a:pPr>
                <a:r>
                  <a:rPr lang="en-GB" dirty="0"/>
                  <a:t>Best available mode values only the best option and ignores all other alternatives.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930FD3-8643-6371-9A28-9FE35FA87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725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884D-458F-5F99-33D2-2CDDB1B8FC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(preliminary) results</a:t>
            </a:r>
            <a:endParaRPr lang="en-GB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6EFAAAA-11A5-86D6-3394-21F8B06CA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wip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0901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4311-7655-DE48-48B5-561B9A12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scenario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4A71-6717-433A-CC27-3717F10BF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Preliminary results:</a:t>
            </a:r>
          </a:p>
          <a:p>
            <a:r>
              <a:rPr lang="en-US" dirty="0"/>
              <a:t>How are the person-based acc scores distributed across socio-demographic groups (by income, </a:t>
            </a:r>
            <a:r>
              <a:rPr lang="en-US" dirty="0">
                <a:highlight>
                  <a:srgbClr val="FFFF00"/>
                </a:highlight>
              </a:rPr>
              <a:t>age etc</a:t>
            </a:r>
            <a:r>
              <a:rPr lang="en-US" dirty="0"/>
              <a:t>.)?</a:t>
            </a:r>
          </a:p>
          <a:p>
            <a:r>
              <a:rPr lang="en-US" dirty="0">
                <a:highlight>
                  <a:srgbClr val="FFFF00"/>
                </a:highlight>
              </a:rPr>
              <a:t>Map of average accessibility by </a:t>
            </a:r>
            <a:r>
              <a:rPr lang="en-US" dirty="0" err="1">
                <a:highlight>
                  <a:srgbClr val="FFFF00"/>
                </a:highlight>
              </a:rPr>
              <a:t>bezirk</a:t>
            </a:r>
            <a:r>
              <a:rPr lang="en-US" dirty="0"/>
              <a:t> (show spatial distribution of accessibility)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087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3139E7-684B-5555-BA70-0AC7953A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scenario</a:t>
            </a:r>
            <a:endParaRPr lang="en-GB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FF61006-985B-0DC8-7E1A-CE2BDE6D6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2FD725-2EAF-BB33-5CA6-4B4B7DF79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Initial # distribution of mm Acc</a:t>
            </a:r>
            <a:br>
              <a:rPr lang="en-US" dirty="0"/>
            </a:br>
            <a:r>
              <a:rPr lang="en-US" dirty="0"/>
              <a:t>Even before the policy, accessibility is not uniform.</a:t>
            </a:r>
          </a:p>
          <a:p>
            <a:r>
              <a:rPr lang="en-GB" dirty="0"/>
              <a:t>Differences reflect spatial location, income scaling, age, mode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203178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3C57-AE5A-C173-E50A-69F8180D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scenario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D2F5EA-B085-9C56-3F32-9D7F445F7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79756-D81C-3F3B-616A-0221D1C5F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Initial income distribution of mm Acc</a:t>
            </a:r>
            <a:endParaRPr lang="en-GB" dirty="0"/>
          </a:p>
          <a:p>
            <a:r>
              <a:rPr lang="en-US" dirty="0"/>
              <a:t>*more context*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4123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CAE9-64FC-363B-2A37-77C3E1882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scenario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F350-3256-29E7-7A03-584B61476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Preliminary results:</a:t>
            </a:r>
          </a:p>
          <a:p>
            <a:r>
              <a:rPr lang="en-GB" dirty="0">
                <a:highlight>
                  <a:srgbClr val="FFFF00"/>
                </a:highlight>
              </a:rPr>
              <a:t>Specific mode accessibility scores</a:t>
            </a:r>
          </a:p>
          <a:p>
            <a:pPr lvl="1"/>
            <a:r>
              <a:rPr lang="en-GB" dirty="0"/>
              <a:t>highlight car deterrence (middle income groups)</a:t>
            </a:r>
          </a:p>
          <a:p>
            <a:pPr lvl="1"/>
            <a:r>
              <a:rPr lang="en-GB" dirty="0"/>
              <a:t>Agents who gain accessibility (spatial patterns)</a:t>
            </a:r>
          </a:p>
          <a:p>
            <a:r>
              <a:rPr lang="en-GB" dirty="0"/>
              <a:t>Income distribution of policy effects (car dependence)</a:t>
            </a:r>
          </a:p>
        </p:txBody>
      </p:sp>
    </p:spTree>
    <p:extLst>
      <p:ext uri="{BB962C8B-B14F-4D97-AF65-F5344CB8AC3E}">
        <p14:creationId xmlns:p14="http://schemas.microsoft.com/office/powerpoint/2010/main" val="768791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293487-4103-5AC1-0DB5-88C525D7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scenario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B2BAD8-3EF5-E21E-6080-FE57A392C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34ACF8-B40A-3719-6DBA-FFE083720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Majority experience small accessibility changes (from base)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8523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ADD6-728B-1B0D-1C6C-C2B6F271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09F69A-603A-2A7E-9184-AE879962D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F60E1-BDF9-4F8F-66C0-130590E94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income groups not most negatively affected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middle/high income experience bigger losses</a:t>
            </a:r>
          </a:p>
        </p:txBody>
      </p:sp>
    </p:spTree>
    <p:extLst>
      <p:ext uri="{BB962C8B-B14F-4D97-AF65-F5344CB8AC3E}">
        <p14:creationId xmlns:p14="http://schemas.microsoft.com/office/powerpoint/2010/main" val="710931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BD6F-EB8D-765B-765F-C6736CBF2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0C95-8B41-A1F4-F7E7-D7043DE0A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Distribution across income</a:t>
            </a:r>
          </a:p>
          <a:p>
            <a:r>
              <a:rPr lang="en-US" dirty="0"/>
              <a:t>Car only </a:t>
            </a:r>
            <a:r>
              <a:rPr lang="el-GR" dirty="0"/>
              <a:t>Δ</a:t>
            </a:r>
            <a:r>
              <a:rPr lang="en-US" dirty="0"/>
              <a:t> + mm </a:t>
            </a:r>
            <a:r>
              <a:rPr lang="el-GR" dirty="0"/>
              <a:t>Δ</a:t>
            </a:r>
            <a:r>
              <a:rPr lang="en-US" dirty="0"/>
              <a:t> (by income)</a:t>
            </a:r>
          </a:p>
          <a:p>
            <a:r>
              <a:rPr lang="en-US" dirty="0"/>
              <a:t>Car share (base) vs mm </a:t>
            </a:r>
            <a:r>
              <a:rPr lang="el-GR" dirty="0"/>
              <a:t>Δ</a:t>
            </a:r>
            <a:endParaRPr lang="en-US" dirty="0"/>
          </a:p>
          <a:p>
            <a:r>
              <a:rPr lang="en-US" dirty="0"/>
              <a:t>Spatial distribution</a:t>
            </a:r>
          </a:p>
          <a:p>
            <a:pPr lvl="1"/>
            <a:r>
              <a:rPr lang="en-US" dirty="0"/>
              <a:t>Bar plot / map </a:t>
            </a:r>
            <a:r>
              <a:rPr lang="el-GR" dirty="0"/>
              <a:t>Δ</a:t>
            </a:r>
            <a:r>
              <a:rPr lang="en-US" dirty="0"/>
              <a:t> by </a:t>
            </a:r>
            <a:r>
              <a:rPr lang="en-US" dirty="0" err="1"/>
              <a:t>bezirk</a:t>
            </a:r>
            <a:endParaRPr lang="en-US" dirty="0"/>
          </a:p>
          <a:p>
            <a:r>
              <a:rPr lang="en-US" dirty="0"/>
              <a:t>Improves/worsened/</a:t>
            </a:r>
            <a:r>
              <a:rPr lang="en-US" dirty="0" err="1"/>
              <a:t>nochange</a:t>
            </a:r>
            <a:r>
              <a:rPr lang="en-US" dirty="0"/>
              <a:t> %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509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888A-F600-C3C0-A960-8F1CAE1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accessibility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7040-213B-DA75-8DD6-E88AD4328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Preliminary results:</a:t>
            </a:r>
          </a:p>
          <a:p>
            <a:r>
              <a:rPr lang="en-GB" dirty="0">
                <a:highlight>
                  <a:srgbClr val="FFFF00"/>
                </a:highlight>
              </a:rPr>
              <a:t>Car only delta vs multimodal delta (visual)</a:t>
            </a:r>
          </a:p>
          <a:p>
            <a:r>
              <a:rPr lang="en-GB" dirty="0"/>
              <a:t>Boxplot of distribution</a:t>
            </a:r>
          </a:p>
        </p:txBody>
      </p:sp>
    </p:spTree>
    <p:extLst>
      <p:ext uri="{BB962C8B-B14F-4D97-AF65-F5344CB8AC3E}">
        <p14:creationId xmlns:p14="http://schemas.microsoft.com/office/powerpoint/2010/main" val="415799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DC25-7E6D-F6FC-995D-7D6AE9DC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accessibility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81D1DD-8D93-792B-FC5A-57EB789DC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87" y="1678670"/>
            <a:ext cx="5818076" cy="516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7872F-AD24-8C22-72FB-AD8826D3C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75" y="1027906"/>
            <a:ext cx="5818076" cy="5818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3A5B98-1FC5-0C79-2D0B-4F42C17A72DB}"/>
              </a:ext>
            </a:extLst>
          </p:cNvPr>
          <p:cNvSpPr txBox="1"/>
          <p:nvPr/>
        </p:nvSpPr>
        <p:spPr>
          <a:xfrm>
            <a:off x="10621890" y="0"/>
            <a:ext cx="1570110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Outdated plot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00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575BE2-209B-6529-A938-39AE407F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4EC5AC-3929-4249-4246-54FD03121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5BFABA-F1D9-EC14-6212-4B1DD6642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Values of car acc </a:t>
            </a:r>
            <a:r>
              <a:rPr lang="el-GR" dirty="0"/>
              <a:t>Δ</a:t>
            </a:r>
            <a:r>
              <a:rPr lang="en-GB" dirty="0"/>
              <a:t> excluding </a:t>
            </a:r>
            <a:r>
              <a:rPr lang="en-GB" dirty="0" err="1"/>
              <a:t>carAvail</a:t>
            </a:r>
            <a:r>
              <a:rPr lang="en-GB" dirty="0"/>
              <a:t> = “never”</a:t>
            </a:r>
          </a:p>
          <a:p>
            <a:r>
              <a:rPr lang="en-GB" dirty="0">
                <a:highlight>
                  <a:srgbClr val="FFFF00"/>
                </a:highlight>
              </a:rPr>
              <a:t>Need to recreate car </a:t>
            </a:r>
            <a:r>
              <a:rPr lang="en-GB" dirty="0" err="1">
                <a:highlight>
                  <a:srgbClr val="FFFF00"/>
                </a:highlight>
              </a:rPr>
              <a:t>acc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l-GR" dirty="0">
                <a:highlight>
                  <a:srgbClr val="FFFF00"/>
                </a:highlight>
              </a:rPr>
              <a:t>Δ</a:t>
            </a:r>
            <a:r>
              <a:rPr lang="en-US" dirty="0">
                <a:highlight>
                  <a:srgbClr val="FFFF00"/>
                </a:highlight>
              </a:rPr>
              <a:t> for ALL agents to double check</a:t>
            </a:r>
          </a:p>
          <a:p>
            <a:r>
              <a:rPr lang="en-US" dirty="0"/>
              <a:t>*more context*</a:t>
            </a:r>
            <a:endParaRPr lang="el-G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479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4AAF-77A5-02D1-74A6-916AD8D5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A3EA4-A596-7A94-F331-4D3A8C70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*more context*</a:t>
            </a:r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86B8AAA-3C3A-B5AF-6804-C1BE72309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09" y="457200"/>
            <a:ext cx="6084403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5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81938-0C71-13C2-C1FD-8F7FFAE6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share (base)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A23ECA-C92F-DC3A-F09D-24343FB6C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109663"/>
            <a:ext cx="6172200" cy="46291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86EA343-7C7E-234C-63A6-E2428EFC06D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𝑐𝑎𝑟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𝑒𝑥𝑝𝑆𝑢𝑚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𝑐𝑎𝑟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𝑒𝑥𝑝𝑆𝑢𝑚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𝑐𝑎𝑟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𝑒𝑥𝑝𝑆𝑢𝑚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𝑡𝑤𝑎𝑙𝑘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𝑒𝑥𝑝𝑆𝑢𝑚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 important car is in the total </a:t>
                </a:r>
                <a:r>
                  <a:rPr lang="en-GB" dirty="0" err="1"/>
                  <a:t>acc</a:t>
                </a:r>
                <a:r>
                  <a:rPr lang="en-GB" dirty="0"/>
                  <a:t> utility/contribution for that agent</a:t>
                </a:r>
              </a:p>
              <a:p>
                <a:r>
                  <a:rPr lang="en-GB" dirty="0"/>
                  <a:t>Why use </a:t>
                </a:r>
                <a:r>
                  <a:rPr lang="en-GB" dirty="0" err="1"/>
                  <a:t>expSum</a:t>
                </a:r>
                <a:r>
                  <a:rPr lang="en-GB" dirty="0"/>
                  <a:t> and not </a:t>
                </a:r>
                <a:r>
                  <a:rPr lang="en-GB" dirty="0" err="1"/>
                  <a:t>logSum</a:t>
                </a:r>
                <a:r>
                  <a:rPr lang="en-GB" dirty="0"/>
                  <a:t>?</a:t>
                </a:r>
              </a:p>
              <a:p>
                <a:r>
                  <a:rPr lang="en-GB" dirty="0" err="1"/>
                  <a:t>logSum</a:t>
                </a:r>
                <a:r>
                  <a:rPr lang="en-GB" dirty="0"/>
                  <a:t> is applied only AFTER </a:t>
                </a:r>
                <a:r>
                  <a:rPr lang="en-GB" dirty="0" err="1"/>
                  <a:t>expSum</a:t>
                </a:r>
                <a:r>
                  <a:rPr lang="en-GB" dirty="0"/>
                  <a:t> has been summed across all modes.</a:t>
                </a:r>
              </a:p>
              <a:p>
                <a:r>
                  <a:rPr lang="en-GB" dirty="0"/>
                  <a:t>So, contribution shares must be calculated at the </a:t>
                </a:r>
                <a:r>
                  <a:rPr lang="en-GB" dirty="0" err="1"/>
                  <a:t>expSum</a:t>
                </a:r>
                <a:r>
                  <a:rPr lang="en-GB" dirty="0"/>
                  <a:t> level, not </a:t>
                </a:r>
                <a:r>
                  <a:rPr lang="en-GB" dirty="0" err="1"/>
                  <a:t>logSum</a:t>
                </a:r>
                <a:r>
                  <a:rPr lang="en-GB" dirty="0"/>
                  <a:t> level.</a:t>
                </a:r>
              </a:p>
              <a:p>
                <a:r>
                  <a:rPr lang="en-GB" dirty="0"/>
                  <a:t>At </a:t>
                </a:r>
                <a:r>
                  <a:rPr lang="en-GB" dirty="0" err="1"/>
                  <a:t>logSum</a:t>
                </a:r>
                <a:r>
                  <a:rPr lang="en-GB" dirty="0"/>
                  <a:t> level would only compare two logs of different sums.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86EA343-7C7E-234C-63A6-E2428EFC0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620" r="-1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D42ED-357A-ACC5-2F05-AE36FE118EEC}"/>
                  </a:ext>
                </a:extLst>
              </p:cNvPr>
              <p:cNvSpPr txBox="1"/>
              <p:nvPr/>
            </p:nvSpPr>
            <p:spPr>
              <a:xfrm>
                <a:off x="-1454103" y="5336758"/>
                <a:ext cx="3410229" cy="2128083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lang="en-US" b="0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301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D42ED-357A-ACC5-2F05-AE36FE118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4103" y="5336758"/>
                <a:ext cx="3410229" cy="21280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387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9C19-14A1-1A18-9D2E-7F3B99FF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F5D4EC-CB86-C180-C27A-F66245918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457200"/>
            <a:ext cx="7042151" cy="52816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E8893-5DEF-A4D5-46C2-45EC2C0EA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Car share = dependence on car </a:t>
            </a:r>
            <a:br>
              <a:rPr lang="en-US" dirty="0"/>
            </a:br>
            <a:r>
              <a:rPr lang="en-US" dirty="0"/>
              <a:t>-&gt; which reflects policy vulnerability</a:t>
            </a:r>
          </a:p>
          <a:p>
            <a:r>
              <a:rPr lang="en-US" dirty="0"/>
              <a:t>Higher car share -&gt; larger mm acc loss</a:t>
            </a:r>
          </a:p>
          <a:p>
            <a:r>
              <a:rPr lang="en-US" dirty="0"/>
              <a:t>Multimodal accessibility losses scale with car dependance, not directly by income.</a:t>
            </a:r>
          </a:p>
          <a:p>
            <a:endParaRPr lang="en-US" dirty="0">
              <a:highlight>
                <a:srgbClr val="00FFFF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35C6C-417B-48FC-75B3-67801F53F731}"/>
              </a:ext>
            </a:extLst>
          </p:cNvPr>
          <p:cNvSpPr txBox="1"/>
          <p:nvPr/>
        </p:nvSpPr>
        <p:spPr>
          <a:xfrm>
            <a:off x="-1574978" y="6009650"/>
            <a:ext cx="10663047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Why car share (base) instead of policy/</a:t>
            </a:r>
            <a:r>
              <a:rPr lang="el-GR" dirty="0"/>
              <a:t> Δ</a:t>
            </a:r>
            <a:r>
              <a:rPr lang="en-US" dirty="0"/>
              <a:t>?</a:t>
            </a:r>
          </a:p>
          <a:p>
            <a:r>
              <a:rPr lang="en-GB" dirty="0"/>
              <a:t>The goal is to explain why some agents experience larger multimodal </a:t>
            </a:r>
            <a:r>
              <a:rPr lang="en-GB" dirty="0" err="1"/>
              <a:t>acc</a:t>
            </a:r>
            <a:r>
              <a:rPr lang="en-GB" dirty="0"/>
              <a:t> losses than others.</a:t>
            </a:r>
            <a:br>
              <a:rPr lang="en-GB" dirty="0"/>
            </a:br>
            <a:r>
              <a:rPr lang="en-GB" dirty="0"/>
              <a:t>Car share is meant to measure how dependent were agents on car </a:t>
            </a:r>
            <a:r>
              <a:rPr lang="en-GB" dirty="0" err="1"/>
              <a:t>acc</a:t>
            </a:r>
            <a:r>
              <a:rPr lang="en-GB" dirty="0"/>
              <a:t> before the policy.</a:t>
            </a:r>
          </a:p>
          <a:p>
            <a:r>
              <a:rPr lang="en-GB" dirty="0"/>
              <a:t>-&gt; Baseline dependence (car share (base)) of an agent determines the vulnerability to the policy (</a:t>
            </a:r>
            <a:r>
              <a:rPr lang="el-GR" dirty="0"/>
              <a:t>Δ</a:t>
            </a:r>
            <a:r>
              <a:rPr lang="en-US" dirty="0" err="1"/>
              <a:t>mmAcc</a:t>
            </a:r>
            <a:r>
              <a:rPr lang="en-US" dirty="0"/>
              <a:t>)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629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E01E-E02E-08A5-EC11-56DAA3CA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distribution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D22A-3893-E498-04D3-46ABD14E6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7CFD8-A231-3452-90B6-3E3697E5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Bar plot </a:t>
            </a:r>
            <a:r>
              <a:rPr lang="el-GR" dirty="0">
                <a:highlight>
                  <a:srgbClr val="FFFF00"/>
                </a:highlight>
              </a:rPr>
              <a:t>Δ</a:t>
            </a:r>
            <a:r>
              <a:rPr lang="en-US" dirty="0">
                <a:highlight>
                  <a:srgbClr val="FFFF00"/>
                </a:highlight>
              </a:rPr>
              <a:t> by </a:t>
            </a:r>
            <a:r>
              <a:rPr lang="en-US" dirty="0" err="1">
                <a:highlight>
                  <a:srgbClr val="FFFF00"/>
                </a:highlight>
              </a:rPr>
              <a:t>bezirk</a:t>
            </a:r>
            <a:r>
              <a:rPr lang="en-US" dirty="0">
                <a:highlight>
                  <a:srgbClr val="FFFF00"/>
                </a:highlight>
              </a:rPr>
              <a:t> / map </a:t>
            </a:r>
            <a:r>
              <a:rPr lang="el-GR" dirty="0">
                <a:highlight>
                  <a:srgbClr val="FFFF00"/>
                </a:highlight>
              </a:rPr>
              <a:t>Δ</a:t>
            </a:r>
            <a:r>
              <a:rPr lang="en-US" dirty="0">
                <a:highlight>
                  <a:srgbClr val="FFFF00"/>
                </a:highlight>
              </a:rPr>
              <a:t> by </a:t>
            </a:r>
            <a:r>
              <a:rPr lang="en-US" dirty="0" err="1">
                <a:highlight>
                  <a:srgbClr val="FFFF00"/>
                </a:highlight>
              </a:rPr>
              <a:t>bezirk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Show how policy effects are spatially structured in the city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3852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021F-34F5-F3BC-EFD5-01DDCBB2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Benefits/loses?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165F2-CB44-3DB8-E419-5B66D3B21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age+</a:t>
            </a:r>
            <a:r>
              <a:rPr lang="en-US" dirty="0" err="1">
                <a:highlight>
                  <a:srgbClr val="FFFF00"/>
                </a:highlight>
              </a:rPr>
              <a:t>bezirk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*more context*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705877-A6FC-D799-3D16-24A89538B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75" y="987425"/>
            <a:ext cx="4873625" cy="4873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A89472-DF1A-519B-30E7-9F313C81F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88" y="2595563"/>
            <a:ext cx="4873625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62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5F6A-27FD-CFC3-2112-659E95D6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Interim conclusions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ABA9-9D23-FF57-252D-9831B8D16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Accessibility impacts of the policy are heterogeneous</a:t>
            </a:r>
          </a:p>
          <a:p>
            <a:r>
              <a:rPr lang="en-US" dirty="0"/>
              <a:t>Socio-demographic attributes on agents influence their accessibility scores</a:t>
            </a:r>
          </a:p>
          <a:p>
            <a:r>
              <a:rPr lang="en-US" dirty="0"/>
              <a:t>The policy affects different areas in different ways (spatially structured)</a:t>
            </a:r>
          </a:p>
          <a:p>
            <a:r>
              <a:rPr lang="en-US" dirty="0"/>
              <a:t>Multimodal framework changes how equity is interpretated</a:t>
            </a:r>
          </a:p>
          <a:p>
            <a:r>
              <a:rPr lang="en-US" dirty="0"/>
              <a:t>Accessibility changes scale with transport mode dependence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3180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1194-BDFB-C36A-FCBE-15145A45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26D1D-313A-E178-2952-E649E14B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Why/how agents score improve after </a:t>
            </a:r>
            <a:r>
              <a:rPr lang="en-US" dirty="0" err="1"/>
              <a:t>multimodalAcc</a:t>
            </a:r>
            <a:r>
              <a:rPr lang="en-US" dirty="0"/>
              <a:t>?</a:t>
            </a:r>
          </a:p>
          <a:p>
            <a:r>
              <a:rPr lang="en-US" dirty="0"/>
              <a:t>Is the acc delta income based?</a:t>
            </a:r>
          </a:p>
          <a:p>
            <a:r>
              <a:rPr lang="en-US" dirty="0"/>
              <a:t>Why high income are more affected within the spread?</a:t>
            </a:r>
          </a:p>
          <a:p>
            <a:r>
              <a:rPr lang="en-US" dirty="0"/>
              <a:t>&gt; is car ownership income dependent?</a:t>
            </a:r>
          </a:p>
          <a:p>
            <a:endParaRPr lang="en-US" dirty="0"/>
          </a:p>
          <a:p>
            <a:r>
              <a:rPr lang="en-US" dirty="0"/>
              <a:t>How would results change if reinvestments into pt accompanied the car-free policy?</a:t>
            </a:r>
          </a:p>
          <a:p>
            <a:r>
              <a:rPr lang="en-US" dirty="0"/>
              <a:t>&gt; what policy recommendations follow from the previous question?</a:t>
            </a:r>
          </a:p>
          <a:p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336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FEED-F236-2073-5191-846D8C2B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86F884-949F-B730-73E4-DE851C01E6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𝐴𝑐𝑐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𝑚𝑜𝑑𝑒𝑠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dirty="0"/>
                            <m:t>ß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𝑒𝑥𝑝𝑆𝑢𝑚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𝑡𝑤𝑎𝑙𝑘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𝑒𝑥𝑝𝑆𝑢𝑚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𝑐𝑎𝑟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𝑒𝑥𝑝𝑆𝑢𝑚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𝑐𝑎𝑟</m:t>
                        </m:r>
                      </m:sub>
                    </m:sSub>
                  </m:oMath>
                </a14:m>
                <a:r>
                  <a:rPr lang="en-GB" dirty="0"/>
                  <a:t> includes </a:t>
                </a:r>
                <a:r>
                  <a:rPr lang="en-GB" dirty="0" err="1"/>
                  <a:t>incomeFactor</a:t>
                </a:r>
                <a:r>
                  <a:rPr lang="en-GB" dirty="0"/>
                  <a:t> (</a:t>
                </a:r>
                <a:r>
                  <a:rPr lang="en-GB" dirty="0" err="1"/>
                  <a:t>globalAvgIncome</a:t>
                </a:r>
                <a:r>
                  <a:rPr lang="en-GB" dirty="0"/>
                  <a:t>/</a:t>
                </a:r>
                <a:r>
                  <a:rPr lang="en-GB" dirty="0" err="1"/>
                  <a:t>personalIncome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𝑡𝑤𝑎𝑙𝑘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𝑒𝑥𝑝𝑆𝑢𝑚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𝑝𝑡</m:t>
                        </m:r>
                      </m:sub>
                    </m:sSub>
                  </m:oMath>
                </a14:m>
                <a:r>
                  <a:rPr lang="en-GB" dirty="0"/>
                  <a:t> does not include income scaling</a:t>
                </a:r>
              </a:p>
              <a:p>
                <a:pPr marL="0" indent="0">
                  <a:buNone/>
                </a:pPr>
                <a:r>
                  <a:rPr lang="en-GB" dirty="0"/>
                  <a:t>So, </a:t>
                </a:r>
                <a:r>
                  <a:rPr lang="en-GB" dirty="0" err="1"/>
                  <a:t>acc</a:t>
                </a:r>
                <a:r>
                  <a:rPr lang="en-GB" dirty="0"/>
                  <a:t> delta is not inherently income based, but income influences it indirectly from the car utility component and that the car eligibility MAY be tied to income attribute(</a:t>
                </a:r>
                <a:r>
                  <a:rPr lang="en-GB" dirty="0">
                    <a:highlight>
                      <a:srgbClr val="FFFF00"/>
                    </a:highlight>
                  </a:rPr>
                  <a:t>NEED TO DEEPDIVE</a:t>
                </a:r>
                <a:r>
                  <a:rPr lang="en-GB" dirty="0"/>
                  <a:t>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86F884-949F-B730-73E4-DE851C01E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087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EC64-846E-2D9B-6324-5D707428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</a:t>
            </a:r>
            <a:r>
              <a:rPr lang="en-US" dirty="0" err="1"/>
              <a:t>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39764-697C-2D3A-5E55-EA90B441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Why </a:t>
            </a:r>
            <a:r>
              <a:rPr lang="en-US" dirty="0" err="1"/>
              <a:t>pbAcc</a:t>
            </a:r>
            <a:r>
              <a:rPr lang="en-US" dirty="0"/>
              <a:t> instead of </a:t>
            </a:r>
            <a:r>
              <a:rPr lang="en-US" dirty="0" err="1"/>
              <a:t>locationbasedAcc</a:t>
            </a:r>
            <a:r>
              <a:rPr lang="en-US" dirty="0"/>
              <a:t>?</a:t>
            </a:r>
          </a:p>
          <a:p>
            <a:r>
              <a:rPr lang="en-US" dirty="0"/>
              <a:t>Why only car experience change after policy and </a:t>
            </a:r>
            <a:r>
              <a:rPr lang="en-US" dirty="0" err="1"/>
              <a:t>twalk&amp;pt</a:t>
            </a:r>
            <a:r>
              <a:rPr lang="en-US" dirty="0"/>
              <a:t> remain?</a:t>
            </a:r>
          </a:p>
          <a:p>
            <a:r>
              <a:rPr lang="en-US" dirty="0">
                <a:highlight>
                  <a:srgbClr val="FF0000"/>
                </a:highlight>
              </a:rPr>
              <a:t>How much does </a:t>
            </a:r>
            <a:r>
              <a:rPr lang="en-US" dirty="0" err="1">
                <a:highlight>
                  <a:srgbClr val="FF0000"/>
                </a:highlight>
              </a:rPr>
              <a:t>brainExpBeta</a:t>
            </a:r>
            <a:r>
              <a:rPr lang="en-US" dirty="0">
                <a:highlight>
                  <a:srgbClr val="FF0000"/>
                </a:highlight>
              </a:rPr>
              <a:t> affect results?</a:t>
            </a:r>
          </a:p>
          <a:p>
            <a:r>
              <a:rPr lang="en-GB" dirty="0"/>
              <a:t>Why use </a:t>
            </a:r>
            <a:r>
              <a:rPr lang="en-GB" dirty="0" err="1"/>
              <a:t>logsum</a:t>
            </a:r>
            <a:r>
              <a:rPr lang="en-GB" dirty="0"/>
              <a:t> for </a:t>
            </a:r>
            <a:r>
              <a:rPr lang="en-GB" dirty="0" err="1"/>
              <a:t>multimodalAcc</a:t>
            </a:r>
            <a:r>
              <a:rPr lang="en-GB" dirty="0"/>
              <a:t> instead of best mode? Try out</a:t>
            </a:r>
          </a:p>
          <a:p>
            <a:r>
              <a:rPr lang="en-GB" dirty="0"/>
              <a:t>How sensitive are results to facility locations? (what would happen if more facilities were included?)</a:t>
            </a:r>
          </a:p>
          <a:p>
            <a:r>
              <a:rPr lang="en-GB" dirty="0"/>
              <a:t>With the policy, equality/inequality? Who are the winners/losers?</a:t>
            </a:r>
          </a:p>
          <a:p>
            <a:r>
              <a:rPr lang="en-GB" dirty="0"/>
              <a:t>Are vulnerable groups protected? Socially just?</a:t>
            </a:r>
          </a:p>
          <a:p>
            <a:r>
              <a:rPr lang="en-GB" dirty="0"/>
              <a:t>For </a:t>
            </a:r>
            <a:r>
              <a:rPr lang="en-GB" dirty="0" err="1"/>
              <a:t>multimodalAcc</a:t>
            </a:r>
            <a:r>
              <a:rPr lang="en-GB" dirty="0"/>
              <a:t>, what if only car owners are evaluated?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759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24BC-264D-F151-CA09-ED5A7C7F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1AA0-6C06-1201-552E-D257F1DD6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Why/how agents score improve after </a:t>
            </a:r>
            <a:r>
              <a:rPr lang="en-US" dirty="0" err="1"/>
              <a:t>multimodalAcc</a:t>
            </a:r>
            <a:r>
              <a:rPr lang="en-US" dirty="0"/>
              <a:t> in car free berlin (policy)?</a:t>
            </a:r>
          </a:p>
          <a:p>
            <a:r>
              <a:rPr lang="en-US" dirty="0"/>
              <a:t>Why is there negative relationship between income and mm acc delta despite car avail not income </a:t>
            </a:r>
            <a:r>
              <a:rPr lang="en-US" dirty="0" err="1"/>
              <a:t>dependant</a:t>
            </a:r>
            <a:r>
              <a:rPr lang="en-US" dirty="0"/>
              <a:t> (from persons file)</a:t>
            </a:r>
          </a:p>
          <a:p>
            <a:r>
              <a:rPr lang="en-GB" dirty="0"/>
              <a:t>30min getting through slides (</a:t>
            </a:r>
            <a:r>
              <a:rPr lang="en-GB" dirty="0" err="1"/>
              <a:t>prio</a:t>
            </a:r>
            <a:r>
              <a:rPr lang="en-GB" dirty="0"/>
              <a:t> more important topics to explain)</a:t>
            </a:r>
          </a:p>
          <a:p>
            <a:r>
              <a:rPr lang="en-GB" dirty="0"/>
              <a:t>How do we even define who has car/car availability based on input files (inaccurate)</a:t>
            </a:r>
          </a:p>
        </p:txBody>
      </p:sp>
    </p:spTree>
    <p:extLst>
      <p:ext uri="{BB962C8B-B14F-4D97-AF65-F5344CB8AC3E}">
        <p14:creationId xmlns:p14="http://schemas.microsoft.com/office/powerpoint/2010/main" val="320917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6084</TotalTime>
  <Words>1688</Words>
  <Application>Microsoft Office PowerPoint</Application>
  <PresentationFormat>Widescreen</PresentationFormat>
  <Paragraphs>226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Times New Roman</vt:lpstr>
      <vt:lpstr>Office Theme</vt:lpstr>
      <vt:lpstr>TO-DO</vt:lpstr>
      <vt:lpstr>Research question</vt:lpstr>
      <vt:lpstr>Research question</vt:lpstr>
      <vt:lpstr>MATSim framework</vt:lpstr>
      <vt:lpstr>Scenario</vt:lpstr>
      <vt:lpstr>Person-based accessibility</vt:lpstr>
      <vt:lpstr>teleportedWalk</vt:lpstr>
      <vt:lpstr>car</vt:lpstr>
      <vt:lpstr>Multimodal accessibility</vt:lpstr>
      <vt:lpstr>Why logSum and not best mode score?</vt:lpstr>
      <vt:lpstr>(preliminary) results</vt:lpstr>
      <vt:lpstr>Base scenario</vt:lpstr>
      <vt:lpstr>Base scenario</vt:lpstr>
      <vt:lpstr>Base scenario</vt:lpstr>
      <vt:lpstr>Policy scenario</vt:lpstr>
      <vt:lpstr>Policy scenario</vt:lpstr>
      <vt:lpstr>PowerPoint Presentation</vt:lpstr>
      <vt:lpstr>PowerPoint Presentation</vt:lpstr>
      <vt:lpstr>Multimodal accessibility</vt:lpstr>
      <vt:lpstr>Multimodal accessibility</vt:lpstr>
      <vt:lpstr>PowerPoint Presentation</vt:lpstr>
      <vt:lpstr>PowerPoint Presentation</vt:lpstr>
      <vt:lpstr>Car share (base)</vt:lpstr>
      <vt:lpstr>PowerPoint Presentation</vt:lpstr>
      <vt:lpstr>Spatial distribution</vt:lpstr>
      <vt:lpstr>Benefits/loses?</vt:lpstr>
      <vt:lpstr>Interim conclusions</vt:lpstr>
      <vt:lpstr>Q&amp;A</vt:lpstr>
      <vt:lpstr>PowerPoint Presentation</vt:lpstr>
      <vt:lpstr>More 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2200807159077808</dc:creator>
  <cp:lastModifiedBy>TU-Pseudonym 2200807159077808</cp:lastModifiedBy>
  <cp:revision>15</cp:revision>
  <dcterms:created xsi:type="dcterms:W3CDTF">2026-02-11T11:01:34Z</dcterms:created>
  <dcterms:modified xsi:type="dcterms:W3CDTF">2026-02-25T01:08:07Z</dcterms:modified>
</cp:coreProperties>
</file>